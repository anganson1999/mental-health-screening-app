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Bricolage Grotesque" panose="020B0604020202020204" charset="0"/>
      <p:regular r:id="rId18"/>
    </p:embeddedFont>
    <p:embeddedFont>
      <p:font typeface="Bricolage Grotesque Bold" panose="020B0604020202020204" charset="0"/>
      <p:regular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Bold" panose="02000000000000000000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78178-3E2E-4063-A8B9-E4B9AD7B0361}" v="37" dt="2026-06-14T13:58:01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387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 Anson" userId="54c59d66ceeb44e2" providerId="LiveId" clId="{67C0497F-637B-486E-969C-A83720142163}"/>
    <pc:docChg chg="undo redo custSel addSld modSld sldOrd">
      <pc:chgData name="Ang Anson" userId="54c59d66ceeb44e2" providerId="LiveId" clId="{67C0497F-637B-486E-969C-A83720142163}" dt="2026-06-14T14:00:33.940" v="304" actId="20577"/>
      <pc:docMkLst>
        <pc:docMk/>
      </pc:docMkLst>
      <pc:sldChg chg="addSp delSp modSp mod">
        <pc:chgData name="Ang Anson" userId="54c59d66ceeb44e2" providerId="LiveId" clId="{67C0497F-637B-486E-969C-A83720142163}" dt="2026-06-14T13:52:27.930" v="210" actId="2164"/>
        <pc:sldMkLst>
          <pc:docMk/>
          <pc:sldMk cId="0" sldId="262"/>
        </pc:sldMkLst>
        <pc:spChg chg="mod">
          <ac:chgData name="Ang Anson" userId="54c59d66ceeb44e2" providerId="LiveId" clId="{67C0497F-637B-486E-969C-A83720142163}" dt="2026-06-14T13:37:28.308" v="9" actId="1076"/>
          <ac:spMkLst>
            <pc:docMk/>
            <pc:sldMk cId="0" sldId="262"/>
            <ac:spMk id="2" creationId="{00000000-0000-0000-0000-000000000000}"/>
          </ac:spMkLst>
        </pc:spChg>
        <pc:graphicFrameChg chg="del mod">
          <ac:chgData name="Ang Anson" userId="54c59d66ceeb44e2" providerId="LiveId" clId="{67C0497F-637B-486E-969C-A83720142163}" dt="2026-06-14T13:39:49.837" v="21" actId="478"/>
          <ac:graphicFrameMkLst>
            <pc:docMk/>
            <pc:sldMk cId="0" sldId="262"/>
            <ac:graphicFrameMk id="10" creationId="{00000000-0000-0000-0000-000000000000}"/>
          </ac:graphicFrameMkLst>
        </pc:graphicFrameChg>
        <pc:graphicFrameChg chg="add mod">
          <ac:chgData name="Ang Anson" userId="54c59d66ceeb44e2" providerId="LiveId" clId="{67C0497F-637B-486E-969C-A83720142163}" dt="2026-06-14T13:40:09.871" v="22"/>
          <ac:graphicFrameMkLst>
            <pc:docMk/>
            <pc:sldMk cId="0" sldId="262"/>
            <ac:graphicFrameMk id="17" creationId="{BC6BD98B-69D0-5212-B3A6-1FACD7495849}"/>
          </ac:graphicFrameMkLst>
        </pc:graphicFrameChg>
        <pc:graphicFrameChg chg="add mod modGraphic">
          <ac:chgData name="Ang Anson" userId="54c59d66ceeb44e2" providerId="LiveId" clId="{67C0497F-637B-486E-969C-A83720142163}" dt="2026-06-14T13:52:27.930" v="210" actId="2164"/>
          <ac:graphicFrameMkLst>
            <pc:docMk/>
            <pc:sldMk cId="0" sldId="262"/>
            <ac:graphicFrameMk id="18" creationId="{8930FD3C-A17C-AAAA-D201-582E63809B58}"/>
          </ac:graphicFrameMkLst>
        </pc:graphicFrameChg>
      </pc:sldChg>
      <pc:sldChg chg="modSp mod">
        <pc:chgData name="Ang Anson" userId="54c59d66ceeb44e2" providerId="LiveId" clId="{67C0497F-637B-486E-969C-A83720142163}" dt="2026-06-14T13:42:18.669" v="41" actId="1076"/>
        <pc:sldMkLst>
          <pc:docMk/>
          <pc:sldMk cId="0" sldId="263"/>
        </pc:sldMkLst>
        <pc:spChg chg="mod">
          <ac:chgData name="Ang Anson" userId="54c59d66ceeb44e2" providerId="LiveId" clId="{67C0497F-637B-486E-969C-A83720142163}" dt="2026-06-14T13:42:07.070" v="37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ng Anson" userId="54c59d66ceeb44e2" providerId="LiveId" clId="{67C0497F-637B-486E-969C-A83720142163}" dt="2026-06-14T13:42:18.669" v="41" actId="1076"/>
          <ac:spMkLst>
            <pc:docMk/>
            <pc:sldMk cId="0" sldId="263"/>
            <ac:spMk id="15" creationId="{00000000-0000-0000-0000-000000000000}"/>
          </ac:spMkLst>
        </pc:spChg>
      </pc:sldChg>
      <pc:sldChg chg="addSp delSp modSp add mod ord">
        <pc:chgData name="Ang Anson" userId="54c59d66ceeb44e2" providerId="LiveId" clId="{67C0497F-637B-486E-969C-A83720142163}" dt="2026-06-14T14:00:33.940" v="304" actId="20577"/>
        <pc:sldMkLst>
          <pc:docMk/>
          <pc:sldMk cId="3817219902" sldId="270"/>
        </pc:sldMkLst>
        <pc:spChg chg="mod">
          <ac:chgData name="Ang Anson" userId="54c59d66ceeb44e2" providerId="LiveId" clId="{67C0497F-637B-486E-969C-A83720142163}" dt="2026-06-14T13:50:16.804" v="148" actId="1076"/>
          <ac:spMkLst>
            <pc:docMk/>
            <pc:sldMk cId="3817219902" sldId="270"/>
            <ac:spMk id="2" creationId="{B41F4BBE-8DAB-00B8-1C67-A2ECCD053751}"/>
          </ac:spMkLst>
        </pc:spChg>
        <pc:spChg chg="mod">
          <ac:chgData name="Ang Anson" userId="54c59d66ceeb44e2" providerId="LiveId" clId="{67C0497F-637B-486E-969C-A83720142163}" dt="2026-06-14T13:52:59.079" v="220" actId="20577"/>
          <ac:spMkLst>
            <pc:docMk/>
            <pc:sldMk cId="3817219902" sldId="270"/>
            <ac:spMk id="13" creationId="{F1A18C2A-74FB-B787-7F7E-F601F861B617}"/>
          </ac:spMkLst>
        </pc:spChg>
        <pc:spChg chg="mod">
          <ac:chgData name="Ang Anson" userId="54c59d66ceeb44e2" providerId="LiveId" clId="{67C0497F-637B-486E-969C-A83720142163}" dt="2026-06-14T13:45:35.533" v="79" actId="20577"/>
          <ac:spMkLst>
            <pc:docMk/>
            <pc:sldMk cId="3817219902" sldId="270"/>
            <ac:spMk id="14" creationId="{5661E192-F5A3-D5BF-A61F-0CDAC46D137B}"/>
          </ac:spMkLst>
        </pc:spChg>
        <pc:spChg chg="mod">
          <ac:chgData name="Ang Anson" userId="54c59d66ceeb44e2" providerId="LiveId" clId="{67C0497F-637B-486E-969C-A83720142163}" dt="2026-06-14T14:00:33.940" v="304" actId="20577"/>
          <ac:spMkLst>
            <pc:docMk/>
            <pc:sldMk cId="3817219902" sldId="270"/>
            <ac:spMk id="15" creationId="{A26FDD0C-0194-E091-74A0-02C5B2CE44B2}"/>
          </ac:spMkLst>
        </pc:spChg>
        <pc:spChg chg="del mod">
          <ac:chgData name="Ang Anson" userId="54c59d66ceeb44e2" providerId="LiveId" clId="{67C0497F-637B-486E-969C-A83720142163}" dt="2026-06-14T13:53:35.687" v="222" actId="478"/>
          <ac:spMkLst>
            <pc:docMk/>
            <pc:sldMk cId="3817219902" sldId="270"/>
            <ac:spMk id="16" creationId="{E697734F-D830-5807-61E7-4F44F4E6C767}"/>
          </ac:spMkLst>
        </pc:spChg>
        <pc:grpChg chg="mod">
          <ac:chgData name="Ang Anson" userId="54c59d66ceeb44e2" providerId="LiveId" clId="{67C0497F-637B-486E-969C-A83720142163}" dt="2026-06-14T13:49:10.952" v="137" actId="1076"/>
          <ac:grpSpMkLst>
            <pc:docMk/>
            <pc:sldMk cId="3817219902" sldId="270"/>
            <ac:grpSpMk id="4" creationId="{1D7DFDA1-36F5-03DD-75E1-3AC8EBE5B585}"/>
          </ac:grpSpMkLst>
        </pc:grpChg>
        <pc:grpChg chg="mod">
          <ac:chgData name="Ang Anson" userId="54c59d66ceeb44e2" providerId="LiveId" clId="{67C0497F-637B-486E-969C-A83720142163}" dt="2026-06-14T13:53:41.325" v="223" actId="1076"/>
          <ac:grpSpMkLst>
            <pc:docMk/>
            <pc:sldMk cId="3817219902" sldId="270"/>
            <ac:grpSpMk id="7" creationId="{2CAA8044-E8F6-9C52-2846-E60D746BA595}"/>
          </ac:grpSpMkLst>
        </pc:grpChg>
        <pc:graphicFrameChg chg="add mod modGraphic">
          <ac:chgData name="Ang Anson" userId="54c59d66ceeb44e2" providerId="LiveId" clId="{67C0497F-637B-486E-969C-A83720142163}" dt="2026-06-14T13:57:36.602" v="289"/>
          <ac:graphicFrameMkLst>
            <pc:docMk/>
            <pc:sldMk cId="3817219902" sldId="270"/>
            <ac:graphicFrameMk id="10" creationId="{927D19F5-6093-1B83-D3CD-07905C97232D}"/>
          </ac:graphicFrameMkLst>
        </pc:graphicFrameChg>
        <pc:graphicFrameChg chg="del">
          <ac:chgData name="Ang Anson" userId="54c59d66ceeb44e2" providerId="LiveId" clId="{67C0497F-637B-486E-969C-A83720142163}" dt="2026-06-14T13:50:13.300" v="146" actId="478"/>
          <ac:graphicFrameMkLst>
            <pc:docMk/>
            <pc:sldMk cId="3817219902" sldId="270"/>
            <ac:graphicFrameMk id="18" creationId="{5850EF03-94D6-C1BF-B0F8-27E8BD2CF26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555B-3334-4618-9CE5-DD9B83091693}" type="datetimeFigureOut">
              <a:rPr lang="en-MY" smtClean="0"/>
              <a:t>14/6/2026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BFA44-B32D-4E3D-B0BA-BC9AFAA0BB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4271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BFA44-B32D-4E3D-B0BA-BC9AFAA0BB7D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7479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uggingface.co/datasets/sai1908/Mental_Health_Condition_Classifica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ntal-health-screening-app-wqd700k7-group14.streamlit.app" TargetMode="Externa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drive/folders/1WYvISmRBFh2YG06ORExWuZ1UoQYXY27O?usp=drive_link" TargetMode="Externa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jyliew138/mental-health-screening-app" TargetMode="Externa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982734" y="514350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6627578" y="3358300"/>
            <a:ext cx="5032844" cy="681299"/>
            <a:chOff x="0" y="0"/>
            <a:chExt cx="1325523" cy="1794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5523" cy="179437"/>
            </a:xfrm>
            <a:custGeom>
              <a:avLst/>
              <a:gdLst/>
              <a:ahLst/>
              <a:cxnLst/>
              <a:rect l="l" t="t" r="r" b="b"/>
              <a:pathLst>
                <a:path w="1325523" h="179437">
                  <a:moveTo>
                    <a:pt x="76914" y="0"/>
                  </a:moveTo>
                  <a:lnTo>
                    <a:pt x="1248609" y="0"/>
                  </a:lnTo>
                  <a:cubicBezTo>
                    <a:pt x="1291087" y="0"/>
                    <a:pt x="1325523" y="34436"/>
                    <a:pt x="1325523" y="76914"/>
                  </a:cubicBezTo>
                  <a:lnTo>
                    <a:pt x="1325523" y="102523"/>
                  </a:lnTo>
                  <a:cubicBezTo>
                    <a:pt x="1325523" y="122922"/>
                    <a:pt x="1317419" y="142485"/>
                    <a:pt x="1302995" y="156909"/>
                  </a:cubicBezTo>
                  <a:cubicBezTo>
                    <a:pt x="1288571" y="171333"/>
                    <a:pt x="1269008" y="179437"/>
                    <a:pt x="1248609" y="179437"/>
                  </a:cubicBezTo>
                  <a:lnTo>
                    <a:pt x="76914" y="179437"/>
                  </a:lnTo>
                  <a:cubicBezTo>
                    <a:pt x="34436" y="179437"/>
                    <a:pt x="0" y="145001"/>
                    <a:pt x="0" y="102523"/>
                  </a:cubicBezTo>
                  <a:lnTo>
                    <a:pt x="0" y="76914"/>
                  </a:lnTo>
                  <a:cubicBezTo>
                    <a:pt x="0" y="34436"/>
                    <a:pt x="34436" y="0"/>
                    <a:pt x="7691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325523" cy="160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21182" y="949110"/>
            <a:ext cx="16045637" cy="195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Text-Based Mental Health Disorder Classification Using Natural Language Processing</a:t>
            </a:r>
          </a:p>
          <a:p>
            <a:pPr algn="ctr">
              <a:lnSpc>
                <a:spcPts val="2000"/>
              </a:lnSpc>
            </a:pPr>
            <a:endParaRPr lang="en-US" sz="5199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ctr">
              <a:lnSpc>
                <a:spcPts val="3000"/>
              </a:lnSpc>
            </a:pPr>
            <a:r>
              <a:rPr lang="en-US" sz="3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SDG3 Good Health and Well-Being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49504" y="3530693"/>
            <a:ext cx="258315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499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Presentation By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2660" y="3530693"/>
            <a:ext cx="2086249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Group 14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72029" y="4344399"/>
          <a:ext cx="8143942" cy="4400550"/>
        </p:xfrm>
        <a:graphic>
          <a:graphicData uri="http://schemas.openxmlformats.org/drawingml/2006/table">
            <a:tbl>
              <a:tblPr/>
              <a:tblGrid>
                <a:gridCol w="4071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1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Name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Matric No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Yap Hui Qing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24080940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Yeoh Li Ting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23079401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Yap Jiun Soong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24070916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Lim Chin Pei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24077115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Ang Anson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17203192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Liew Jia Yi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25075973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6359434" y="9053163"/>
            <a:ext cx="5569133" cy="681299"/>
            <a:chOff x="0" y="0"/>
            <a:chExt cx="1466768" cy="1794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6768" cy="179437"/>
            </a:xfrm>
            <a:custGeom>
              <a:avLst/>
              <a:gdLst/>
              <a:ahLst/>
              <a:cxnLst/>
              <a:rect l="l" t="t" r="r" b="b"/>
              <a:pathLst>
                <a:path w="1466768" h="179437">
                  <a:moveTo>
                    <a:pt x="69507" y="0"/>
                  </a:moveTo>
                  <a:lnTo>
                    <a:pt x="1397260" y="0"/>
                  </a:lnTo>
                  <a:cubicBezTo>
                    <a:pt x="1415695" y="0"/>
                    <a:pt x="1433374" y="7323"/>
                    <a:pt x="1446409" y="20358"/>
                  </a:cubicBezTo>
                  <a:cubicBezTo>
                    <a:pt x="1459444" y="33393"/>
                    <a:pt x="1466768" y="51073"/>
                    <a:pt x="1466768" y="69507"/>
                  </a:cubicBezTo>
                  <a:lnTo>
                    <a:pt x="1466768" y="109929"/>
                  </a:lnTo>
                  <a:cubicBezTo>
                    <a:pt x="1466768" y="148317"/>
                    <a:pt x="1435648" y="179437"/>
                    <a:pt x="1397260" y="179437"/>
                  </a:cubicBezTo>
                  <a:lnTo>
                    <a:pt x="69507" y="179437"/>
                  </a:lnTo>
                  <a:cubicBezTo>
                    <a:pt x="31120" y="179437"/>
                    <a:pt x="0" y="148317"/>
                    <a:pt x="0" y="109929"/>
                  </a:cubicBezTo>
                  <a:lnTo>
                    <a:pt x="0" y="69507"/>
                  </a:lnTo>
                  <a:cubicBezTo>
                    <a:pt x="0" y="31120"/>
                    <a:pt x="31120" y="0"/>
                    <a:pt x="6950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466768" cy="16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r>
                <a:rPr lang="en-US" sz="2000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LECTURER: </a:t>
              </a:r>
              <a:r>
                <a:rPr lang="en-US" sz="2000" b="1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DR. MOHAMED N. M. LUBANI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000205" y="4415840"/>
            <a:ext cx="3096209" cy="2798055"/>
          </a:xfrm>
          <a:custGeom>
            <a:avLst/>
            <a:gdLst/>
            <a:ahLst/>
            <a:cxnLst/>
            <a:rect l="l" t="t" r="r" b="b"/>
            <a:pathLst>
              <a:path w="3096209" h="2798055">
                <a:moveTo>
                  <a:pt x="0" y="0"/>
                </a:moveTo>
                <a:lnTo>
                  <a:pt x="3096209" y="0"/>
                </a:lnTo>
                <a:lnTo>
                  <a:pt x="3096209" y="2798055"/>
                </a:lnTo>
                <a:lnTo>
                  <a:pt x="0" y="279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90370" y="1684384"/>
            <a:ext cx="14229276" cy="8359700"/>
          </a:xfrm>
          <a:custGeom>
            <a:avLst/>
            <a:gdLst/>
            <a:ahLst/>
            <a:cxnLst/>
            <a:rect l="l" t="t" r="r" b="b"/>
            <a:pathLst>
              <a:path w="14229276" h="8359700">
                <a:moveTo>
                  <a:pt x="0" y="0"/>
                </a:moveTo>
                <a:lnTo>
                  <a:pt x="14229276" y="0"/>
                </a:lnTo>
                <a:lnTo>
                  <a:pt x="14229276" y="8359700"/>
                </a:lnTo>
                <a:lnTo>
                  <a:pt x="0" y="8359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80244" y="975724"/>
            <a:ext cx="12947157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 OF THE NLP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180244" y="975724"/>
            <a:ext cx="4529044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556834" y="2274934"/>
            <a:ext cx="5174333" cy="3117132"/>
            <a:chOff x="0" y="0"/>
            <a:chExt cx="1362787" cy="8209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56834" y="5686135"/>
            <a:ext cx="5174333" cy="3117132"/>
            <a:chOff x="0" y="0"/>
            <a:chExt cx="1362787" cy="8209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ln w="19050" cap="rnd">
              <a:solidFill>
                <a:srgbClr val="F4F8F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  <a:p>
              <a:pPr algn="ctr">
                <a:lnSpc>
                  <a:spcPts val="2749"/>
                </a:lnSpc>
              </a:pPr>
              <a:endParaRPr/>
            </a:p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7 Classes</a:t>
              </a:r>
            </a:p>
            <a:p>
              <a:pPr algn="ctr">
                <a:lnSpc>
                  <a:spcPts val="2749"/>
                </a:lnSpc>
              </a:pPr>
              <a:endPara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algn="ctr">
                <a:lnSpc>
                  <a:spcPts val="2749"/>
                </a:lnSpc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Anxiety, Normal, Depression, Stress, Personality Disorder, Bipolar and Suicidal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84967" y="2274934"/>
            <a:ext cx="5174333" cy="3117132"/>
            <a:chOff x="0" y="0"/>
            <a:chExt cx="1362787" cy="8209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ln w="19050" cap="rnd">
              <a:solidFill>
                <a:srgbClr val="F4F8F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84967" y="5686135"/>
            <a:ext cx="5174333" cy="3117132"/>
            <a:chOff x="0" y="0"/>
            <a:chExt cx="1362787" cy="8209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BBE5E1"/>
            </a:solidFill>
            <a:ln w="19050" cap="rnd">
              <a:solidFill>
                <a:srgbClr val="F4F8F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2274934"/>
            <a:ext cx="5174333" cy="3117132"/>
            <a:chOff x="0" y="0"/>
            <a:chExt cx="1362787" cy="8209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ln w="19050" cap="rnd">
              <a:solidFill>
                <a:srgbClr val="F4F8F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5686135"/>
            <a:ext cx="5174333" cy="3117132"/>
            <a:chOff x="0" y="0"/>
            <a:chExt cx="1362787" cy="82097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09326" y="2713432"/>
            <a:ext cx="430858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4F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Dataset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36618" y="2713432"/>
            <a:ext cx="3414764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Source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9516" y="3871816"/>
            <a:ext cx="4192701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Mental Health Condition Classification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61205" y="3786132"/>
            <a:ext cx="456559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800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Hugging Face</a:t>
            </a:r>
          </a:p>
          <a:p>
            <a:pPr algn="ctr">
              <a:lnSpc>
                <a:spcPts val="4200"/>
              </a:lnSpc>
            </a:pPr>
            <a:r>
              <a:rPr lang="en-US" sz="2800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Link: </a:t>
            </a:r>
            <a:r>
              <a:rPr lang="en-US" sz="2800" u="sng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  <a:hlinkClick r:id="rId4" tooltip="https://huggingface.co/datasets/sai1908/Mental_Health_Condition_Classification"/>
              </a:rPr>
              <a:t>mental_health dataset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17844" y="2713432"/>
            <a:ext cx="430858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4F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Size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75783" y="3747775"/>
            <a:ext cx="4192701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Row: 103,488</a:t>
            </a:r>
          </a:p>
          <a:p>
            <a:pPr marL="604521" lvl="1" indent="-302261" algn="l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Column: 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85451" y="6022027"/>
            <a:ext cx="430858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Attribute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23775" y="6022027"/>
            <a:ext cx="440302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4F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Target Feature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93969" y="6022027"/>
            <a:ext cx="4308580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Duplicate &amp;</a:t>
            </a:r>
          </a:p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Missing Value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19516" y="7060252"/>
            <a:ext cx="4192701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Text</a:t>
            </a:r>
          </a:p>
          <a:p>
            <a:pPr marL="604521" lvl="1" indent="-302261" algn="l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Status (7 Classes)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633723" y="7721287"/>
            <a:ext cx="4192701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800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69160" y="2572355"/>
            <a:ext cx="8624386" cy="5142290"/>
          </a:xfrm>
          <a:custGeom>
            <a:avLst/>
            <a:gdLst/>
            <a:ahLst/>
            <a:cxnLst/>
            <a:rect l="l" t="t" r="r" b="b"/>
            <a:pathLst>
              <a:path w="8624386" h="5142290">
                <a:moveTo>
                  <a:pt x="0" y="0"/>
                </a:moveTo>
                <a:lnTo>
                  <a:pt x="8624386" y="0"/>
                </a:lnTo>
                <a:lnTo>
                  <a:pt x="8624386" y="5142290"/>
                </a:lnTo>
                <a:lnTo>
                  <a:pt x="0" y="5142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1023581" y="1849286"/>
            <a:ext cx="5032844" cy="558166"/>
            <a:chOff x="0" y="0"/>
            <a:chExt cx="1325523" cy="1470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5523" cy="147007"/>
            </a:xfrm>
            <a:custGeom>
              <a:avLst/>
              <a:gdLst/>
              <a:ahLst/>
              <a:cxnLst/>
              <a:rect l="l" t="t" r="r" b="b"/>
              <a:pathLst>
                <a:path w="1325523" h="147007">
                  <a:moveTo>
                    <a:pt x="73503" y="0"/>
                  </a:moveTo>
                  <a:lnTo>
                    <a:pt x="1252019" y="0"/>
                  </a:lnTo>
                  <a:cubicBezTo>
                    <a:pt x="1271514" y="0"/>
                    <a:pt x="1290210" y="7744"/>
                    <a:pt x="1303994" y="21529"/>
                  </a:cubicBezTo>
                  <a:cubicBezTo>
                    <a:pt x="1317779" y="35313"/>
                    <a:pt x="1325523" y="54009"/>
                    <a:pt x="1325523" y="73503"/>
                  </a:cubicBezTo>
                  <a:lnTo>
                    <a:pt x="1325523" y="73503"/>
                  </a:lnTo>
                  <a:cubicBezTo>
                    <a:pt x="1325523" y="114098"/>
                    <a:pt x="1292614" y="147007"/>
                    <a:pt x="1252019" y="147007"/>
                  </a:cubicBezTo>
                  <a:lnTo>
                    <a:pt x="73503" y="147007"/>
                  </a:lnTo>
                  <a:cubicBezTo>
                    <a:pt x="32909" y="147007"/>
                    <a:pt x="0" y="114098"/>
                    <a:pt x="0" y="73503"/>
                  </a:cubicBezTo>
                  <a:lnTo>
                    <a:pt x="0" y="73503"/>
                  </a:lnTo>
                  <a:cubicBezTo>
                    <a:pt x="0" y="32909"/>
                    <a:pt x="32909" y="0"/>
                    <a:pt x="7350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1325523" cy="1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r>
                <a:rPr lang="en-US" sz="2000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Text Length Analysis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64931" y="1849286"/>
            <a:ext cx="5032844" cy="558166"/>
            <a:chOff x="0" y="0"/>
            <a:chExt cx="1325523" cy="1470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5523" cy="147007"/>
            </a:xfrm>
            <a:custGeom>
              <a:avLst/>
              <a:gdLst/>
              <a:ahLst/>
              <a:cxnLst/>
              <a:rect l="l" t="t" r="r" b="b"/>
              <a:pathLst>
                <a:path w="1325523" h="147007">
                  <a:moveTo>
                    <a:pt x="73503" y="0"/>
                  </a:moveTo>
                  <a:lnTo>
                    <a:pt x="1252019" y="0"/>
                  </a:lnTo>
                  <a:cubicBezTo>
                    <a:pt x="1271514" y="0"/>
                    <a:pt x="1290210" y="7744"/>
                    <a:pt x="1303994" y="21529"/>
                  </a:cubicBezTo>
                  <a:cubicBezTo>
                    <a:pt x="1317779" y="35313"/>
                    <a:pt x="1325523" y="54009"/>
                    <a:pt x="1325523" y="73503"/>
                  </a:cubicBezTo>
                  <a:lnTo>
                    <a:pt x="1325523" y="73503"/>
                  </a:lnTo>
                  <a:cubicBezTo>
                    <a:pt x="1325523" y="114098"/>
                    <a:pt x="1292614" y="147007"/>
                    <a:pt x="1252019" y="147007"/>
                  </a:cubicBezTo>
                  <a:lnTo>
                    <a:pt x="73503" y="147007"/>
                  </a:lnTo>
                  <a:cubicBezTo>
                    <a:pt x="32909" y="147007"/>
                    <a:pt x="0" y="114098"/>
                    <a:pt x="0" y="73503"/>
                  </a:cubicBezTo>
                  <a:lnTo>
                    <a:pt x="0" y="73503"/>
                  </a:lnTo>
                  <a:cubicBezTo>
                    <a:pt x="0" y="32909"/>
                    <a:pt x="32909" y="0"/>
                    <a:pt x="7350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325523" cy="1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r>
                <a:rPr lang="en-US" sz="2000">
                  <a:solidFill>
                    <a:srgbClr val="000000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Class Distribution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9245922" y="2572355"/>
            <a:ext cx="8850492" cy="5135778"/>
          </a:xfrm>
          <a:custGeom>
            <a:avLst/>
            <a:gdLst/>
            <a:ahLst/>
            <a:cxnLst/>
            <a:rect l="l" t="t" r="r" b="b"/>
            <a:pathLst>
              <a:path w="8850492" h="5135778">
                <a:moveTo>
                  <a:pt x="0" y="0"/>
                </a:moveTo>
                <a:lnTo>
                  <a:pt x="8850492" y="0"/>
                </a:lnTo>
                <a:lnTo>
                  <a:pt x="8850492" y="5135778"/>
                </a:lnTo>
                <a:lnTo>
                  <a:pt x="0" y="5135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180244" y="975724"/>
            <a:ext cx="11219416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EXPLORATORY DATA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18017" y="7879580"/>
            <a:ext cx="3390845" cy="205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Number of rows: 103,488</a:t>
            </a:r>
          </a:p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Mean: 82.02 words</a:t>
            </a:r>
          </a:p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Median: 34 words</a:t>
            </a:r>
          </a:p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25th percentile: 24 words</a:t>
            </a:r>
          </a:p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75th percentile: 99 words</a:t>
            </a:r>
          </a:p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Maximum: 5,419 words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78773" y="7879580"/>
            <a:ext cx="4540067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More than 128 words: 16,367 (15.82%)</a:t>
            </a:r>
          </a:p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More than 256 words: 6,600 (6.38%)</a:t>
            </a:r>
          </a:p>
          <a:p>
            <a:pPr marL="388620" lvl="1" indent="-194310" algn="l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More than 512 words: 1,614 (1.56%)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2892" y="7955780"/>
            <a:ext cx="6856923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198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Class imbalance is not severe.</a:t>
            </a:r>
          </a:p>
          <a:p>
            <a:pPr marL="388620" lvl="1" indent="-194310" algn="l">
              <a:lnSpc>
                <a:spcPts val="1980"/>
              </a:lnSpc>
              <a:buFont typeface="Arial"/>
              <a:buChar char="•"/>
            </a:pPr>
            <a:r>
              <a:rPr lang="en-US" sz="18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Solution: stratified data splitting &amp; weighted evaluation metrics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19705" y="2008234"/>
            <a:ext cx="16648589" cy="5598088"/>
          </a:xfrm>
          <a:custGeom>
            <a:avLst/>
            <a:gdLst/>
            <a:ahLst/>
            <a:cxnLst/>
            <a:rect l="l" t="t" r="r" b="b"/>
            <a:pathLst>
              <a:path w="16648589" h="5598088">
                <a:moveTo>
                  <a:pt x="0" y="0"/>
                </a:moveTo>
                <a:lnTo>
                  <a:pt x="16648590" y="0"/>
                </a:lnTo>
                <a:lnTo>
                  <a:pt x="16648590" y="5598088"/>
                </a:lnTo>
                <a:lnTo>
                  <a:pt x="0" y="559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833360"/>
            <a:ext cx="15805175" cy="195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</a:t>
            </a:r>
            <a:r>
              <a:rPr lang="en-US" sz="2600" b="1">
                <a:solidFill>
                  <a:srgbClr val="F4F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rioritize F1-Score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Plain accuracy is misleading when class sizes range significantly (Anxiety: 17K VS Suicidal: 11K)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Penalizes models that sacrifice either precision or recall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Missing a suicidal post (false negative) is far more critical than a false alarm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80244" y="975724"/>
            <a:ext cx="14488965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EXPERIMENTAL FINDINGS &amp;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82981" y="2990850"/>
            <a:ext cx="17122038" cy="5521857"/>
          </a:xfrm>
          <a:custGeom>
            <a:avLst/>
            <a:gdLst/>
            <a:ahLst/>
            <a:cxnLst/>
            <a:rect l="l" t="t" r="r" b="b"/>
            <a:pathLst>
              <a:path w="17122038" h="5521857">
                <a:moveTo>
                  <a:pt x="0" y="0"/>
                </a:moveTo>
                <a:lnTo>
                  <a:pt x="17122038" y="0"/>
                </a:lnTo>
                <a:lnTo>
                  <a:pt x="17122038" y="5521857"/>
                </a:lnTo>
                <a:lnTo>
                  <a:pt x="0" y="5521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0244" y="975724"/>
            <a:ext cx="14488965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EXPERIMENTAL FINDINGS &amp; EVALUATION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10124" y="1912984"/>
            <a:ext cx="1366775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 F1 Performance by Models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084" y="8651032"/>
            <a:ext cx="16805833" cy="1249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4" lvl="1" indent="-237492" algn="l">
              <a:lnSpc>
                <a:spcPts val="330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 single model consistently outperformed others across all metrics. </a:t>
            </a:r>
          </a:p>
          <a:p>
            <a:pPr marL="474984" lvl="1" indent="-237492" algn="l">
              <a:lnSpc>
                <a:spcPts val="3300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However, Model O achieved the best balance of validation and test performance, particularly in test F1-score, and was selected as the final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11440" y="2427334"/>
            <a:ext cx="8217224" cy="2571750"/>
            <a:chOff x="0" y="0"/>
            <a:chExt cx="2164207" cy="677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64207" cy="677333"/>
            </a:xfrm>
            <a:custGeom>
              <a:avLst/>
              <a:gdLst/>
              <a:ahLst/>
              <a:cxnLst/>
              <a:rect l="l" t="t" r="r" b="b"/>
              <a:pathLst>
                <a:path w="2164207" h="677333">
                  <a:moveTo>
                    <a:pt x="47108" y="0"/>
                  </a:moveTo>
                  <a:lnTo>
                    <a:pt x="2117099" y="0"/>
                  </a:lnTo>
                  <a:cubicBezTo>
                    <a:pt x="2143116" y="0"/>
                    <a:pt x="2164207" y="21091"/>
                    <a:pt x="2164207" y="47108"/>
                  </a:cubicBezTo>
                  <a:lnTo>
                    <a:pt x="2164207" y="630225"/>
                  </a:lnTo>
                  <a:cubicBezTo>
                    <a:pt x="2164207" y="656242"/>
                    <a:pt x="2143116" y="677333"/>
                    <a:pt x="2117099" y="677333"/>
                  </a:cubicBezTo>
                  <a:lnTo>
                    <a:pt x="47108" y="677333"/>
                  </a:lnTo>
                  <a:cubicBezTo>
                    <a:pt x="34614" y="677333"/>
                    <a:pt x="22632" y="672370"/>
                    <a:pt x="13798" y="663536"/>
                  </a:cubicBezTo>
                  <a:cubicBezTo>
                    <a:pt x="4963" y="654701"/>
                    <a:pt x="0" y="642719"/>
                    <a:pt x="0" y="630225"/>
                  </a:cubicBezTo>
                  <a:lnTo>
                    <a:pt x="0" y="47108"/>
                  </a:lnTo>
                  <a:cubicBezTo>
                    <a:pt x="0" y="21091"/>
                    <a:pt x="21091" y="0"/>
                    <a:pt x="47108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164207" cy="658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59336" y="2427334"/>
            <a:ext cx="8217224" cy="2571750"/>
            <a:chOff x="0" y="0"/>
            <a:chExt cx="2164207" cy="677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4207" cy="677333"/>
            </a:xfrm>
            <a:custGeom>
              <a:avLst/>
              <a:gdLst/>
              <a:ahLst/>
              <a:cxnLst/>
              <a:rect l="l" t="t" r="r" b="b"/>
              <a:pathLst>
                <a:path w="2164207" h="677333">
                  <a:moveTo>
                    <a:pt x="47108" y="0"/>
                  </a:moveTo>
                  <a:lnTo>
                    <a:pt x="2117099" y="0"/>
                  </a:lnTo>
                  <a:cubicBezTo>
                    <a:pt x="2143116" y="0"/>
                    <a:pt x="2164207" y="21091"/>
                    <a:pt x="2164207" y="47108"/>
                  </a:cubicBezTo>
                  <a:lnTo>
                    <a:pt x="2164207" y="630225"/>
                  </a:lnTo>
                  <a:cubicBezTo>
                    <a:pt x="2164207" y="656242"/>
                    <a:pt x="2143116" y="677333"/>
                    <a:pt x="2117099" y="677333"/>
                  </a:cubicBezTo>
                  <a:lnTo>
                    <a:pt x="47108" y="677333"/>
                  </a:lnTo>
                  <a:cubicBezTo>
                    <a:pt x="34614" y="677333"/>
                    <a:pt x="22632" y="672370"/>
                    <a:pt x="13798" y="663536"/>
                  </a:cubicBezTo>
                  <a:cubicBezTo>
                    <a:pt x="4963" y="654701"/>
                    <a:pt x="0" y="642719"/>
                    <a:pt x="0" y="630225"/>
                  </a:cubicBezTo>
                  <a:lnTo>
                    <a:pt x="0" y="47108"/>
                  </a:lnTo>
                  <a:cubicBezTo>
                    <a:pt x="0" y="21091"/>
                    <a:pt x="21091" y="0"/>
                    <a:pt x="47108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2164207" cy="658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80244" y="975724"/>
            <a:ext cx="14488965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EXPERIMENTAL FINDINGS &amp; EVALUATION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10124" y="1674859"/>
            <a:ext cx="1366775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Impact of Maximum Sequence Length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4369" y="2568667"/>
            <a:ext cx="7491367" cy="195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26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Result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Model A (256 tokens): Test F1 = 0.9182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Model F (512 tokens): Test F1 = 0.9208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Improvement: +0.0026 F1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11192" y="2448289"/>
            <a:ext cx="7713512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26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Reduced Text Truncation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256 tokens: 8.2% of training texts truncated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512 tokens: 2.3% of training texts truncated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Longer inputs preserve more contextual and discriminative information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22521" y="5369370"/>
            <a:ext cx="8743125" cy="393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Largest gains observed in Depression and Suicidal categories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posts are typically longer and more narrative-based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Longer sequence length capture important context that would otherwise be truncated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trade-off is training time increase from ~ 54 mins to ~72 mins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930FD3C-A17C-AAAA-D201-582E63809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225793"/>
              </p:ext>
            </p:extLst>
          </p:nvPr>
        </p:nvGraphicFramePr>
        <p:xfrm>
          <a:off x="870022" y="5474684"/>
          <a:ext cx="7430145" cy="3441690"/>
        </p:xfrm>
        <a:graphic>
          <a:graphicData uri="http://schemas.openxmlformats.org/drawingml/2006/table">
            <a:tbl>
              <a:tblPr/>
              <a:tblGrid>
                <a:gridCol w="2640975">
                  <a:extLst>
                    <a:ext uri="{9D8B030D-6E8A-4147-A177-3AD203B41FA5}">
                      <a16:colId xmlns:a16="http://schemas.microsoft.com/office/drawing/2014/main" val="1493575215"/>
                    </a:ext>
                  </a:extLst>
                </a:gridCol>
                <a:gridCol w="2312455">
                  <a:extLst>
                    <a:ext uri="{9D8B030D-6E8A-4147-A177-3AD203B41FA5}">
                      <a16:colId xmlns:a16="http://schemas.microsoft.com/office/drawing/2014/main" val="3943164990"/>
                    </a:ext>
                  </a:extLst>
                </a:gridCol>
                <a:gridCol w="2476715">
                  <a:extLst>
                    <a:ext uri="{9D8B030D-6E8A-4147-A177-3AD203B41FA5}">
                      <a16:colId xmlns:a16="http://schemas.microsoft.com/office/drawing/2014/main" val="3333128392"/>
                    </a:ext>
                  </a:extLst>
                </a:gridCol>
              </a:tblGrid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Model</a:t>
                      </a:r>
                      <a:endParaRPr lang="en-MY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depression F1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suicidal F1</a:t>
                      </a:r>
                      <a:endParaRPr lang="en-MY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617598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A_baseline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0.798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0.755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840954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F_baseline_512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0.805</a:t>
                      </a:r>
                      <a:endParaRPr lang="en-MY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0.767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23348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O_warmup_512</a:t>
                      </a:r>
                      <a:endParaRPr lang="en-MY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0.809</a:t>
                      </a:r>
                      <a:endParaRPr lang="en-MY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0.770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491966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M_lgbatch_hi-lr_512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0.809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0.769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628847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M_warmup_512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0.805</a:t>
                      </a:r>
                      <a:endParaRPr lang="en-MY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0.761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6907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3F766-7975-3B7F-D67C-A9C1F2268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1F4BBE-8DAB-00B8-1C67-A2ECCD0537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7296EE5-1AFE-887B-406A-691CE9A9F17B}"/>
              </a:ext>
            </a:extLst>
          </p:cNvPr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D7DFDA1-36F5-03DD-75E1-3AC8EBE5B585}"/>
              </a:ext>
            </a:extLst>
          </p:cNvPr>
          <p:cNvGrpSpPr/>
          <p:nvPr/>
        </p:nvGrpSpPr>
        <p:grpSpPr>
          <a:xfrm>
            <a:off x="811440" y="2427334"/>
            <a:ext cx="8217224" cy="2571750"/>
            <a:chOff x="0" y="0"/>
            <a:chExt cx="2164207" cy="6773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3A67AD0-8CE3-FF28-D181-5DBED7362118}"/>
                </a:ext>
              </a:extLst>
            </p:cNvPr>
            <p:cNvSpPr/>
            <p:nvPr/>
          </p:nvSpPr>
          <p:spPr>
            <a:xfrm>
              <a:off x="0" y="0"/>
              <a:ext cx="2164207" cy="677333"/>
            </a:xfrm>
            <a:custGeom>
              <a:avLst/>
              <a:gdLst/>
              <a:ahLst/>
              <a:cxnLst/>
              <a:rect l="l" t="t" r="r" b="b"/>
              <a:pathLst>
                <a:path w="2164207" h="677333">
                  <a:moveTo>
                    <a:pt x="47108" y="0"/>
                  </a:moveTo>
                  <a:lnTo>
                    <a:pt x="2117099" y="0"/>
                  </a:lnTo>
                  <a:cubicBezTo>
                    <a:pt x="2143116" y="0"/>
                    <a:pt x="2164207" y="21091"/>
                    <a:pt x="2164207" y="47108"/>
                  </a:cubicBezTo>
                  <a:lnTo>
                    <a:pt x="2164207" y="630225"/>
                  </a:lnTo>
                  <a:cubicBezTo>
                    <a:pt x="2164207" y="656242"/>
                    <a:pt x="2143116" y="677333"/>
                    <a:pt x="2117099" y="677333"/>
                  </a:cubicBezTo>
                  <a:lnTo>
                    <a:pt x="47108" y="677333"/>
                  </a:lnTo>
                  <a:cubicBezTo>
                    <a:pt x="34614" y="677333"/>
                    <a:pt x="22632" y="672370"/>
                    <a:pt x="13798" y="663536"/>
                  </a:cubicBezTo>
                  <a:cubicBezTo>
                    <a:pt x="4963" y="654701"/>
                    <a:pt x="0" y="642719"/>
                    <a:pt x="0" y="630225"/>
                  </a:cubicBezTo>
                  <a:lnTo>
                    <a:pt x="0" y="47108"/>
                  </a:lnTo>
                  <a:cubicBezTo>
                    <a:pt x="0" y="21091"/>
                    <a:pt x="21091" y="0"/>
                    <a:pt x="47108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C27D6DA-0CA1-6277-A9D5-5D9835B1F7BD}"/>
                </a:ext>
              </a:extLst>
            </p:cNvPr>
            <p:cNvSpPr txBox="1"/>
            <p:nvPr/>
          </p:nvSpPr>
          <p:spPr>
            <a:xfrm>
              <a:off x="0" y="19050"/>
              <a:ext cx="2164207" cy="658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CAA8044-E8F6-9C52-2846-E60D746BA595}"/>
              </a:ext>
            </a:extLst>
          </p:cNvPr>
          <p:cNvGrpSpPr/>
          <p:nvPr/>
        </p:nvGrpSpPr>
        <p:grpSpPr>
          <a:xfrm>
            <a:off x="9259338" y="2427334"/>
            <a:ext cx="8217224" cy="6883942"/>
            <a:chOff x="0" y="0"/>
            <a:chExt cx="2164207" cy="67733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FA40995-01B9-44A0-300F-8FBC2D0BAFC4}"/>
                </a:ext>
              </a:extLst>
            </p:cNvPr>
            <p:cNvSpPr/>
            <p:nvPr/>
          </p:nvSpPr>
          <p:spPr>
            <a:xfrm>
              <a:off x="0" y="0"/>
              <a:ext cx="2164207" cy="677333"/>
            </a:xfrm>
            <a:custGeom>
              <a:avLst/>
              <a:gdLst/>
              <a:ahLst/>
              <a:cxnLst/>
              <a:rect l="l" t="t" r="r" b="b"/>
              <a:pathLst>
                <a:path w="2164207" h="677333">
                  <a:moveTo>
                    <a:pt x="47108" y="0"/>
                  </a:moveTo>
                  <a:lnTo>
                    <a:pt x="2117099" y="0"/>
                  </a:lnTo>
                  <a:cubicBezTo>
                    <a:pt x="2143116" y="0"/>
                    <a:pt x="2164207" y="21091"/>
                    <a:pt x="2164207" y="47108"/>
                  </a:cubicBezTo>
                  <a:lnTo>
                    <a:pt x="2164207" y="630225"/>
                  </a:lnTo>
                  <a:cubicBezTo>
                    <a:pt x="2164207" y="656242"/>
                    <a:pt x="2143116" y="677333"/>
                    <a:pt x="2117099" y="677333"/>
                  </a:cubicBezTo>
                  <a:lnTo>
                    <a:pt x="47108" y="677333"/>
                  </a:lnTo>
                  <a:cubicBezTo>
                    <a:pt x="34614" y="677333"/>
                    <a:pt x="22632" y="672370"/>
                    <a:pt x="13798" y="663536"/>
                  </a:cubicBezTo>
                  <a:cubicBezTo>
                    <a:pt x="4963" y="654701"/>
                    <a:pt x="0" y="642719"/>
                    <a:pt x="0" y="630225"/>
                  </a:cubicBezTo>
                  <a:lnTo>
                    <a:pt x="0" y="47108"/>
                  </a:lnTo>
                  <a:cubicBezTo>
                    <a:pt x="0" y="21091"/>
                    <a:pt x="21091" y="0"/>
                    <a:pt x="47108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45364BD-639A-B59E-2A9A-13E15B0AE79E}"/>
                </a:ext>
              </a:extLst>
            </p:cNvPr>
            <p:cNvSpPr txBox="1"/>
            <p:nvPr/>
          </p:nvSpPr>
          <p:spPr>
            <a:xfrm>
              <a:off x="0" y="19050"/>
              <a:ext cx="2164207" cy="658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B864531F-E916-7E4D-673D-0F1503BE4568}"/>
              </a:ext>
            </a:extLst>
          </p:cNvPr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D82563B-5EE8-43D9-636A-3C17AA8B89B8}"/>
              </a:ext>
            </a:extLst>
          </p:cNvPr>
          <p:cNvSpPr txBox="1"/>
          <p:nvPr/>
        </p:nvSpPr>
        <p:spPr>
          <a:xfrm>
            <a:off x="3180244" y="975724"/>
            <a:ext cx="14488965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EXPERIMENTAL FINDINGS &amp; EVALUATION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1A18C2A-74FB-B787-7F7E-F601F861B617}"/>
              </a:ext>
            </a:extLst>
          </p:cNvPr>
          <p:cNvSpPr txBox="1"/>
          <p:nvPr/>
        </p:nvSpPr>
        <p:spPr>
          <a:xfrm>
            <a:off x="2310124" y="1674859"/>
            <a:ext cx="1366775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dirty="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Impact of  </a:t>
            </a:r>
            <a:r>
              <a:rPr lang="en-US" altLang="zh-CN" sz="3000" dirty="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</a:t>
            </a:r>
            <a:r>
              <a:rPr lang="en-MY" altLang="zh-CN" sz="3000" dirty="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arm up (0.1)</a:t>
            </a:r>
            <a:endParaRPr lang="en-US" sz="3000" dirty="0">
              <a:solidFill>
                <a:srgbClr val="F4F8F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661E192-F5A3-D5BF-A61F-0CDAC46D137B}"/>
              </a:ext>
            </a:extLst>
          </p:cNvPr>
          <p:cNvSpPr txBox="1"/>
          <p:nvPr/>
        </p:nvSpPr>
        <p:spPr>
          <a:xfrm>
            <a:off x="1174369" y="2568667"/>
            <a:ext cx="7491367" cy="195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26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Result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Model F (512 tokens): Test F1 = 0.9208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Model O (512 tokens): Test F1 = 0.9223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Improvement: +0.0015 F1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26FDD0C-0194-E091-74A0-02C5B2CE44B2}"/>
              </a:ext>
            </a:extLst>
          </p:cNvPr>
          <p:cNvSpPr txBox="1"/>
          <p:nvPr/>
        </p:nvSpPr>
        <p:spPr>
          <a:xfrm>
            <a:off x="9511194" y="2705100"/>
            <a:ext cx="7713512" cy="6466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26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Warm Up (0.1)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Warmup linearly ramps the learning rate from zero up to its target (2e-5) over the first 10% of training steps before the usual decay begins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By stabilizing early updates so the freshly-initialized classifier head does not make large destructive changes to the pretrained weights before the learning rate settles. 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However, this is a marginal and noisy effect and it only helped the small-batch configuration: adding warmup to the large-batch M actually lowered test F1 (0.9205 → 0.9195).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7D19F5-6093-1B83-D3CD-07905C972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562954"/>
              </p:ext>
            </p:extLst>
          </p:nvPr>
        </p:nvGraphicFramePr>
        <p:xfrm>
          <a:off x="870022" y="5474684"/>
          <a:ext cx="7430144" cy="2868075"/>
        </p:xfrm>
        <a:graphic>
          <a:graphicData uri="http://schemas.openxmlformats.org/drawingml/2006/table">
            <a:tbl>
              <a:tblPr/>
              <a:tblGrid>
                <a:gridCol w="2330378">
                  <a:extLst>
                    <a:ext uri="{9D8B030D-6E8A-4147-A177-3AD203B41FA5}">
                      <a16:colId xmlns:a16="http://schemas.microsoft.com/office/drawing/2014/main" val="1493575215"/>
                    </a:ext>
                  </a:extLst>
                </a:gridCol>
                <a:gridCol w="1447330">
                  <a:extLst>
                    <a:ext uri="{9D8B030D-6E8A-4147-A177-3AD203B41FA5}">
                      <a16:colId xmlns:a16="http://schemas.microsoft.com/office/drawing/2014/main" val="184612893"/>
                    </a:ext>
                  </a:extLst>
                </a:gridCol>
                <a:gridCol w="1763582">
                  <a:extLst>
                    <a:ext uri="{9D8B030D-6E8A-4147-A177-3AD203B41FA5}">
                      <a16:colId xmlns:a16="http://schemas.microsoft.com/office/drawing/2014/main" val="3943164990"/>
                    </a:ext>
                  </a:extLst>
                </a:gridCol>
                <a:gridCol w="1888854">
                  <a:extLst>
                    <a:ext uri="{9D8B030D-6E8A-4147-A177-3AD203B41FA5}">
                      <a16:colId xmlns:a16="http://schemas.microsoft.com/office/drawing/2014/main" val="3333128392"/>
                    </a:ext>
                  </a:extLst>
                </a:gridCol>
              </a:tblGrid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Model</a:t>
                      </a:r>
                      <a:endParaRPr lang="en-MY" sz="3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Batch Size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Warm Up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F1</a:t>
                      </a:r>
                      <a:endParaRPr lang="en-MY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617598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F_baseline_512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0.9208</a:t>
                      </a:r>
                      <a:endParaRPr lang="en-MY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23348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O_warmup_512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0.1</a:t>
                      </a: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0.9223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491966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M_warmup_512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0.9206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315808"/>
                  </a:ext>
                </a:extLst>
              </a:tr>
              <a:tr h="57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M_warmup_512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0.1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0.9195</a:t>
                      </a:r>
                      <a:endParaRPr lang="en-MY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690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21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652633" y="2465434"/>
            <a:ext cx="15606667" cy="2233364"/>
            <a:chOff x="0" y="0"/>
            <a:chExt cx="4110398" cy="5882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10398" cy="588211"/>
            </a:xfrm>
            <a:custGeom>
              <a:avLst/>
              <a:gdLst/>
              <a:ahLst/>
              <a:cxnLst/>
              <a:rect l="l" t="t" r="r" b="b"/>
              <a:pathLst>
                <a:path w="4110398" h="588211">
                  <a:moveTo>
                    <a:pt x="24803" y="0"/>
                  </a:moveTo>
                  <a:lnTo>
                    <a:pt x="4085595" y="0"/>
                  </a:lnTo>
                  <a:cubicBezTo>
                    <a:pt x="4092173" y="0"/>
                    <a:pt x="4098482" y="2613"/>
                    <a:pt x="4103133" y="7265"/>
                  </a:cubicBezTo>
                  <a:cubicBezTo>
                    <a:pt x="4107785" y="11916"/>
                    <a:pt x="4110398" y="18225"/>
                    <a:pt x="4110398" y="24803"/>
                  </a:cubicBezTo>
                  <a:lnTo>
                    <a:pt x="4110398" y="563408"/>
                  </a:lnTo>
                  <a:cubicBezTo>
                    <a:pt x="4110398" y="569986"/>
                    <a:pt x="4107785" y="576295"/>
                    <a:pt x="4103133" y="580946"/>
                  </a:cubicBezTo>
                  <a:cubicBezTo>
                    <a:pt x="4098482" y="585598"/>
                    <a:pt x="4092173" y="588211"/>
                    <a:pt x="4085595" y="588211"/>
                  </a:cubicBezTo>
                  <a:lnTo>
                    <a:pt x="24803" y="588211"/>
                  </a:lnTo>
                  <a:cubicBezTo>
                    <a:pt x="18225" y="588211"/>
                    <a:pt x="11916" y="585598"/>
                    <a:pt x="7265" y="580946"/>
                  </a:cubicBezTo>
                  <a:cubicBezTo>
                    <a:pt x="2613" y="576295"/>
                    <a:pt x="0" y="569986"/>
                    <a:pt x="0" y="563408"/>
                  </a:cubicBezTo>
                  <a:lnTo>
                    <a:pt x="0" y="24803"/>
                  </a:lnTo>
                  <a:cubicBezTo>
                    <a:pt x="0" y="18225"/>
                    <a:pt x="2613" y="11916"/>
                    <a:pt x="7265" y="7265"/>
                  </a:cubicBezTo>
                  <a:cubicBezTo>
                    <a:pt x="11916" y="2613"/>
                    <a:pt x="18225" y="0"/>
                    <a:pt x="2480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110398" cy="569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0"/>
                </a:lnSpc>
              </a:pPr>
              <a:r>
                <a:rPr lang="en-US" sz="300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Key Findings</a:t>
              </a:r>
            </a:p>
            <a:p>
              <a:pPr algn="ctr">
                <a:lnSpc>
                  <a:spcPts val="2749"/>
                </a:lnSpc>
              </a:pPr>
              <a:endParaRPr lang="en-US" sz="30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Increase effective batch size from 8 to 32 (using gradient accumulation)</a:t>
              </a:r>
            </a:p>
            <a:p>
              <a:pPr marL="539749" lvl="1" indent="-269875" algn="l">
                <a:lnSpc>
                  <a:spcPts val="27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Increased learning rate from 2e-5 to 3e-5</a:t>
              </a:r>
            </a:p>
            <a:p>
              <a:pPr marL="539749" lvl="1" indent="-269875" algn="l">
                <a:lnSpc>
                  <a:spcPts val="274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Based on the model F, M and M+Warmup, there is no significant improvement in F1-score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0244" y="975724"/>
            <a:ext cx="14488965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EXPERIMENTAL FINDINGS &amp; EVALUATION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0124" y="1674859"/>
            <a:ext cx="1366775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Effect of Large Batch Size and Higher Learning Rate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52633" y="5065330"/>
            <a:ext cx="7515554" cy="4034155"/>
            <a:chOff x="0" y="0"/>
            <a:chExt cx="1979405" cy="10624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79405" cy="1062493"/>
            </a:xfrm>
            <a:custGeom>
              <a:avLst/>
              <a:gdLst/>
              <a:ahLst/>
              <a:cxnLst/>
              <a:rect l="l" t="t" r="r" b="b"/>
              <a:pathLst>
                <a:path w="1979405" h="1062493">
                  <a:moveTo>
                    <a:pt x="51506" y="0"/>
                  </a:moveTo>
                  <a:lnTo>
                    <a:pt x="1927899" y="0"/>
                  </a:lnTo>
                  <a:cubicBezTo>
                    <a:pt x="1956345" y="0"/>
                    <a:pt x="1979405" y="23060"/>
                    <a:pt x="1979405" y="51506"/>
                  </a:cubicBezTo>
                  <a:lnTo>
                    <a:pt x="1979405" y="1010988"/>
                  </a:lnTo>
                  <a:cubicBezTo>
                    <a:pt x="1979405" y="1024648"/>
                    <a:pt x="1973979" y="1037748"/>
                    <a:pt x="1964320" y="1047408"/>
                  </a:cubicBezTo>
                  <a:cubicBezTo>
                    <a:pt x="1954660" y="1057067"/>
                    <a:pt x="1941560" y="1062493"/>
                    <a:pt x="1927899" y="1062493"/>
                  </a:cubicBezTo>
                  <a:lnTo>
                    <a:pt x="51506" y="1062493"/>
                  </a:lnTo>
                  <a:cubicBezTo>
                    <a:pt x="37846" y="1062493"/>
                    <a:pt x="24745" y="1057067"/>
                    <a:pt x="15086" y="1047408"/>
                  </a:cubicBezTo>
                  <a:cubicBezTo>
                    <a:pt x="5427" y="1037748"/>
                    <a:pt x="0" y="1024648"/>
                    <a:pt x="0" y="1010988"/>
                  </a:cubicBezTo>
                  <a:lnTo>
                    <a:pt x="0" y="51506"/>
                  </a:lnTo>
                  <a:cubicBezTo>
                    <a:pt x="0" y="37846"/>
                    <a:pt x="5427" y="24745"/>
                    <a:pt x="15086" y="15086"/>
                  </a:cubicBezTo>
                  <a:cubicBezTo>
                    <a:pt x="24745" y="5427"/>
                    <a:pt x="37846" y="0"/>
                    <a:pt x="515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979405" cy="1148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99"/>
                </a:lnSpc>
              </a:pPr>
              <a:r>
                <a:rPr lang="en-US" sz="29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Benefits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Lower test loss:</a:t>
              </a:r>
            </a:p>
            <a:p>
              <a:pPr marL="1079499" lvl="2" indent="-359833" algn="l">
                <a:lnSpc>
                  <a:spcPts val="3749"/>
                </a:lnSpc>
                <a:buFont typeface="Arial"/>
                <a:buChar char="⚬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M: 0.266</a:t>
              </a:r>
            </a:p>
            <a:p>
              <a:pPr marL="1079499" lvl="2" indent="-359833" algn="l">
                <a:lnSpc>
                  <a:spcPts val="3749"/>
                </a:lnSpc>
                <a:buFont typeface="Arial"/>
                <a:buChar char="⚬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M+Warmup: 0.259</a:t>
              </a:r>
            </a:p>
            <a:p>
              <a:pPr marL="1079499" lvl="2" indent="-359833" algn="l">
                <a:lnSpc>
                  <a:spcPts val="3749"/>
                </a:lnSpc>
                <a:buFont typeface="Arial"/>
                <a:buChar char="⚬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Baseline: ~0.39 - 0.40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Better probability calibration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More efficient training</a:t>
              </a:r>
            </a:p>
            <a:p>
              <a:pPr marL="1079499" lvl="2" indent="-359833" algn="l">
                <a:lnSpc>
                  <a:spcPts val="3749"/>
                </a:lnSpc>
                <a:buFont typeface="Arial"/>
                <a:buChar char="⚬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7,764 optimizer steps vs 31,047 steps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43746" y="5065330"/>
            <a:ext cx="7515554" cy="3946239"/>
            <a:chOff x="0" y="0"/>
            <a:chExt cx="1979405" cy="10393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79405" cy="1039339"/>
            </a:xfrm>
            <a:custGeom>
              <a:avLst/>
              <a:gdLst/>
              <a:ahLst/>
              <a:cxnLst/>
              <a:rect l="l" t="t" r="r" b="b"/>
              <a:pathLst>
                <a:path w="1979405" h="1039339">
                  <a:moveTo>
                    <a:pt x="51506" y="0"/>
                  </a:moveTo>
                  <a:lnTo>
                    <a:pt x="1927899" y="0"/>
                  </a:lnTo>
                  <a:cubicBezTo>
                    <a:pt x="1956345" y="0"/>
                    <a:pt x="1979405" y="23060"/>
                    <a:pt x="1979405" y="51506"/>
                  </a:cubicBezTo>
                  <a:lnTo>
                    <a:pt x="1979405" y="987833"/>
                  </a:lnTo>
                  <a:cubicBezTo>
                    <a:pt x="1979405" y="1001493"/>
                    <a:pt x="1973979" y="1014594"/>
                    <a:pt x="1964320" y="1024253"/>
                  </a:cubicBezTo>
                  <a:cubicBezTo>
                    <a:pt x="1954660" y="1033912"/>
                    <a:pt x="1941560" y="1039339"/>
                    <a:pt x="1927899" y="1039339"/>
                  </a:cubicBezTo>
                  <a:lnTo>
                    <a:pt x="51506" y="1039339"/>
                  </a:lnTo>
                  <a:cubicBezTo>
                    <a:pt x="37846" y="1039339"/>
                    <a:pt x="24745" y="1033912"/>
                    <a:pt x="15086" y="1024253"/>
                  </a:cubicBezTo>
                  <a:cubicBezTo>
                    <a:pt x="5427" y="1014594"/>
                    <a:pt x="0" y="1001493"/>
                    <a:pt x="0" y="987833"/>
                  </a:cubicBezTo>
                  <a:lnTo>
                    <a:pt x="0" y="51506"/>
                  </a:lnTo>
                  <a:cubicBezTo>
                    <a:pt x="0" y="37846"/>
                    <a:pt x="5427" y="24745"/>
                    <a:pt x="15086" y="15086"/>
                  </a:cubicBezTo>
                  <a:cubicBezTo>
                    <a:pt x="24745" y="5427"/>
                    <a:pt x="37846" y="0"/>
                    <a:pt x="5150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1979405" cy="1020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Parameters Impact on F1</a:t>
              </a:r>
            </a:p>
            <a:p>
              <a:pPr algn="l">
                <a:lnSpc>
                  <a:spcPts val="2749"/>
                </a:lnSpc>
              </a:pPr>
              <a:endParaRPr lang="en-US" sz="3000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539749" lvl="1" indent="-269875" algn="l">
                <a:lnSpc>
                  <a:spcPts val="2749"/>
                </a:lnSpc>
                <a:buAutoNum type="arabicPeriod"/>
              </a:pPr>
              <a:r>
                <a:rPr lang="en-US" sz="249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Sequence length - </a:t>
              </a:r>
              <a:r>
                <a:rPr lang="en-US" sz="2499" dirty="0">
                  <a:solidFill>
                    <a:srgbClr val="E7E7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most effective improvement</a:t>
              </a:r>
            </a:p>
            <a:p>
              <a:pPr marL="539749" lvl="1" indent="-269875" algn="l">
                <a:lnSpc>
                  <a:spcPts val="2749"/>
                </a:lnSpc>
                <a:buAutoNum type="arabicPeriod"/>
              </a:pPr>
              <a:r>
                <a:rPr lang="en-US" sz="249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Warmup - </a:t>
              </a:r>
              <a:r>
                <a:rPr lang="en-US" sz="2499" dirty="0">
                  <a:solidFill>
                    <a:srgbClr val="E7E7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small and inconsistent improvement</a:t>
              </a:r>
            </a:p>
            <a:p>
              <a:pPr marL="539749" lvl="1" indent="-269875" algn="l">
                <a:lnSpc>
                  <a:spcPts val="2749"/>
                </a:lnSpc>
                <a:spcBef>
                  <a:spcPct val="0"/>
                </a:spcBef>
                <a:buAutoNum type="arabicPeriod"/>
              </a:pPr>
              <a:r>
                <a:rPr lang="en-US" sz="249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Larger batch and higher learning rate - </a:t>
              </a:r>
              <a:r>
                <a:rPr lang="en-US" sz="2499" dirty="0">
                  <a:solidFill>
                    <a:srgbClr val="E7E72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improves efficiency, not accuracy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36676" y="2436859"/>
            <a:ext cx="12292155" cy="6422651"/>
          </a:xfrm>
          <a:custGeom>
            <a:avLst/>
            <a:gdLst/>
            <a:ahLst/>
            <a:cxnLst/>
            <a:rect l="l" t="t" r="r" b="b"/>
            <a:pathLst>
              <a:path w="12292155" h="6422651">
                <a:moveTo>
                  <a:pt x="0" y="0"/>
                </a:moveTo>
                <a:lnTo>
                  <a:pt x="12292155" y="0"/>
                </a:lnTo>
                <a:lnTo>
                  <a:pt x="12292155" y="6422651"/>
                </a:lnTo>
                <a:lnTo>
                  <a:pt x="0" y="6422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0244" y="975724"/>
            <a:ext cx="14488965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EXPERIMENTAL FINDINGS &amp; EVALUATION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10124" y="1674859"/>
            <a:ext cx="1366775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Effect of Training for more Epochs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15081" y="2484484"/>
            <a:ext cx="3944915" cy="6126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Increasing training from 3 to 5 epochs did not improve performance</a:t>
            </a:r>
          </a:p>
          <a:p>
            <a:pPr algn="l">
              <a:lnSpc>
                <a:spcPts val="3299"/>
              </a:lnSpc>
            </a:pPr>
            <a:endParaRPr lang="en-US" sz="2199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Validation loss increased while training loss decreased, indicating overfitting</a:t>
            </a:r>
          </a:p>
          <a:p>
            <a:pPr algn="l">
              <a:lnSpc>
                <a:spcPts val="3299"/>
              </a:lnSpc>
            </a:pPr>
            <a:endParaRPr lang="en-US" sz="2199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model begins to memorize training data rather than generalize</a:t>
            </a:r>
          </a:p>
          <a:p>
            <a:pPr algn="l">
              <a:lnSpc>
                <a:spcPts val="3299"/>
              </a:lnSpc>
            </a:pPr>
            <a:endParaRPr lang="en-US" sz="2199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 epochs is the optimal training point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6676" y="9056734"/>
            <a:ext cx="16132533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Example (Model F): </a:t>
            </a:r>
          </a:p>
          <a:p>
            <a:pPr marL="949959" lvl="2" indent="-316653" algn="l">
              <a:lnSpc>
                <a:spcPts val="3299"/>
              </a:lnSpc>
              <a:buFont typeface="Arial"/>
              <a:buChar char="⚬"/>
            </a:pPr>
            <a:r>
              <a:rPr lang="en-US" sz="21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training loss 0.536 → 0.229, validation loss 0.289 → 0.394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80244" y="975724"/>
            <a:ext cx="4529044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468396" y="6633656"/>
            <a:ext cx="13351209" cy="3117132"/>
            <a:chOff x="0" y="0"/>
            <a:chExt cx="3516368" cy="8209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16368" cy="820973"/>
            </a:xfrm>
            <a:custGeom>
              <a:avLst/>
              <a:gdLst/>
              <a:ahLst/>
              <a:cxnLst/>
              <a:rect l="l" t="t" r="r" b="b"/>
              <a:pathLst>
                <a:path w="3516368" h="820973">
                  <a:moveTo>
                    <a:pt x="28993" y="0"/>
                  </a:moveTo>
                  <a:lnTo>
                    <a:pt x="3487375" y="0"/>
                  </a:lnTo>
                  <a:cubicBezTo>
                    <a:pt x="3503387" y="0"/>
                    <a:pt x="3516368" y="12981"/>
                    <a:pt x="3516368" y="28993"/>
                  </a:cubicBezTo>
                  <a:lnTo>
                    <a:pt x="3516368" y="791980"/>
                  </a:lnTo>
                  <a:cubicBezTo>
                    <a:pt x="3516368" y="807992"/>
                    <a:pt x="3503387" y="820973"/>
                    <a:pt x="3487375" y="820973"/>
                  </a:cubicBezTo>
                  <a:lnTo>
                    <a:pt x="28993" y="820973"/>
                  </a:lnTo>
                  <a:cubicBezTo>
                    <a:pt x="12981" y="820973"/>
                    <a:pt x="0" y="807992"/>
                    <a:pt x="0" y="791980"/>
                  </a:cubicBezTo>
                  <a:lnTo>
                    <a:pt x="0" y="28993"/>
                  </a:lnTo>
                  <a:cubicBezTo>
                    <a:pt x="0" y="12981"/>
                    <a:pt x="12981" y="0"/>
                    <a:pt x="2899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3516368" cy="792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Overall, the results show that increasing the maximum sequence length to 512 tokens and applying a warmup ratio of 0.1 provided the most consistent improvements. In contrast, increasing the effective batch size, learning rate, and number of training epochs did not improve performance. Therefore, Model O was selected as the final model as it achieved the best overall performance, with a Test Accuracy of 0.9223 and a Test F1-score of 0.9223.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68396" y="2008234"/>
            <a:ext cx="6382479" cy="4101547"/>
            <a:chOff x="0" y="0"/>
            <a:chExt cx="1680982" cy="10802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0982" cy="1080243"/>
            </a:xfrm>
            <a:custGeom>
              <a:avLst/>
              <a:gdLst/>
              <a:ahLst/>
              <a:cxnLst/>
              <a:rect l="l" t="t" r="r" b="b"/>
              <a:pathLst>
                <a:path w="1680982" h="1080243">
                  <a:moveTo>
                    <a:pt x="60650" y="0"/>
                  </a:moveTo>
                  <a:lnTo>
                    <a:pt x="1620332" y="0"/>
                  </a:lnTo>
                  <a:cubicBezTo>
                    <a:pt x="1636418" y="0"/>
                    <a:pt x="1651844" y="6390"/>
                    <a:pt x="1663218" y="17764"/>
                  </a:cubicBezTo>
                  <a:cubicBezTo>
                    <a:pt x="1674592" y="29138"/>
                    <a:pt x="1680982" y="44564"/>
                    <a:pt x="1680982" y="60650"/>
                  </a:cubicBezTo>
                  <a:lnTo>
                    <a:pt x="1680982" y="1019593"/>
                  </a:lnTo>
                  <a:cubicBezTo>
                    <a:pt x="1680982" y="1035678"/>
                    <a:pt x="1674592" y="1051105"/>
                    <a:pt x="1663218" y="1062479"/>
                  </a:cubicBezTo>
                  <a:cubicBezTo>
                    <a:pt x="1651844" y="1073853"/>
                    <a:pt x="1636418" y="1080243"/>
                    <a:pt x="1620332" y="1080243"/>
                  </a:cubicBezTo>
                  <a:lnTo>
                    <a:pt x="60650" y="1080243"/>
                  </a:lnTo>
                  <a:cubicBezTo>
                    <a:pt x="44564" y="1080243"/>
                    <a:pt x="29138" y="1073853"/>
                    <a:pt x="17764" y="1062479"/>
                  </a:cubicBezTo>
                  <a:cubicBezTo>
                    <a:pt x="6390" y="1051105"/>
                    <a:pt x="0" y="1035678"/>
                    <a:pt x="0" y="1019593"/>
                  </a:cubicBezTo>
                  <a:lnTo>
                    <a:pt x="0" y="60650"/>
                  </a:lnTo>
                  <a:cubicBezTo>
                    <a:pt x="0" y="44564"/>
                    <a:pt x="6390" y="29138"/>
                    <a:pt x="17764" y="17764"/>
                  </a:cubicBezTo>
                  <a:cubicBezTo>
                    <a:pt x="29138" y="6390"/>
                    <a:pt x="44564" y="0"/>
                    <a:pt x="60650" y="0"/>
                  </a:cubicBezTo>
                  <a:close/>
                </a:path>
              </a:pathLst>
            </a:custGeom>
            <a:ln w="19050" cap="rnd">
              <a:solidFill>
                <a:srgbClr val="F4F8F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680982" cy="1061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91836" y="2245995"/>
            <a:ext cx="5314582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4F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37522" y="3022687"/>
            <a:ext cx="6244225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Computational cost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Class performance gap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Only BERT-based model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Single modality data - limited to text only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37126" y="2008234"/>
            <a:ext cx="6382479" cy="4101547"/>
            <a:chOff x="0" y="0"/>
            <a:chExt cx="1680982" cy="10802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80982" cy="1080243"/>
            </a:xfrm>
            <a:custGeom>
              <a:avLst/>
              <a:gdLst/>
              <a:ahLst/>
              <a:cxnLst/>
              <a:rect l="l" t="t" r="r" b="b"/>
              <a:pathLst>
                <a:path w="1680982" h="1080243">
                  <a:moveTo>
                    <a:pt x="60650" y="0"/>
                  </a:moveTo>
                  <a:lnTo>
                    <a:pt x="1620332" y="0"/>
                  </a:lnTo>
                  <a:cubicBezTo>
                    <a:pt x="1636418" y="0"/>
                    <a:pt x="1651844" y="6390"/>
                    <a:pt x="1663218" y="17764"/>
                  </a:cubicBezTo>
                  <a:cubicBezTo>
                    <a:pt x="1674592" y="29138"/>
                    <a:pt x="1680982" y="44564"/>
                    <a:pt x="1680982" y="60650"/>
                  </a:cubicBezTo>
                  <a:lnTo>
                    <a:pt x="1680982" y="1019593"/>
                  </a:lnTo>
                  <a:cubicBezTo>
                    <a:pt x="1680982" y="1035678"/>
                    <a:pt x="1674592" y="1051105"/>
                    <a:pt x="1663218" y="1062479"/>
                  </a:cubicBezTo>
                  <a:cubicBezTo>
                    <a:pt x="1651844" y="1073853"/>
                    <a:pt x="1636418" y="1080243"/>
                    <a:pt x="1620332" y="1080243"/>
                  </a:cubicBezTo>
                  <a:lnTo>
                    <a:pt x="60650" y="1080243"/>
                  </a:lnTo>
                  <a:cubicBezTo>
                    <a:pt x="44564" y="1080243"/>
                    <a:pt x="29138" y="1073853"/>
                    <a:pt x="17764" y="1062479"/>
                  </a:cubicBezTo>
                  <a:cubicBezTo>
                    <a:pt x="6390" y="1051105"/>
                    <a:pt x="0" y="1035678"/>
                    <a:pt x="0" y="1019593"/>
                  </a:cubicBezTo>
                  <a:lnTo>
                    <a:pt x="0" y="60650"/>
                  </a:lnTo>
                  <a:cubicBezTo>
                    <a:pt x="0" y="44564"/>
                    <a:pt x="6390" y="29138"/>
                    <a:pt x="17764" y="17764"/>
                  </a:cubicBezTo>
                  <a:cubicBezTo>
                    <a:pt x="29138" y="6390"/>
                    <a:pt x="44564" y="0"/>
                    <a:pt x="60650" y="0"/>
                  </a:cubicBezTo>
                  <a:close/>
                </a:path>
              </a:pathLst>
            </a:custGeom>
            <a:ln w="19050" cap="rnd">
              <a:solidFill>
                <a:srgbClr val="F4F8F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1680982" cy="1061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971074" y="2245995"/>
            <a:ext cx="5314582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4F8F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71257" y="3022687"/>
            <a:ext cx="6248347" cy="2948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Optimize computational efficiency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Target the depression–suicidal bottleneck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Stronger and domain-specific models (MentalBERT / ClinicalBERT)</a:t>
            </a:r>
          </a:p>
          <a:p>
            <a:pPr marL="561342" lvl="1" indent="-280671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F4F8F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Explore multimodal mental health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80244" y="975724"/>
            <a:ext cx="14234209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MENTAL HEALTH TEXT SCREENING (DEMO)</a:t>
            </a:r>
          </a:p>
        </p:txBody>
      </p:sp>
      <p:sp>
        <p:nvSpPr>
          <p:cNvPr id="6" name="Freeform 6"/>
          <p:cNvSpPr/>
          <p:nvPr/>
        </p:nvSpPr>
        <p:spPr>
          <a:xfrm>
            <a:off x="846228" y="2500892"/>
            <a:ext cx="12740879" cy="7373784"/>
          </a:xfrm>
          <a:custGeom>
            <a:avLst/>
            <a:gdLst/>
            <a:ahLst/>
            <a:cxnLst/>
            <a:rect l="l" t="t" r="r" b="b"/>
            <a:pathLst>
              <a:path w="12740879" h="7373784">
                <a:moveTo>
                  <a:pt x="0" y="0"/>
                </a:moveTo>
                <a:lnTo>
                  <a:pt x="12740879" y="0"/>
                </a:lnTo>
                <a:lnTo>
                  <a:pt x="12740879" y="7373783"/>
                </a:lnTo>
                <a:lnTo>
                  <a:pt x="0" y="7373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4354729" y="4498140"/>
            <a:ext cx="3033964" cy="826168"/>
            <a:chOff x="0" y="0"/>
            <a:chExt cx="849932" cy="2314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9932" cy="231442"/>
            </a:xfrm>
            <a:custGeom>
              <a:avLst/>
              <a:gdLst/>
              <a:ahLst/>
              <a:cxnLst/>
              <a:rect l="l" t="t" r="r" b="b"/>
              <a:pathLst>
                <a:path w="849932" h="231442">
                  <a:moveTo>
                    <a:pt x="115721" y="0"/>
                  </a:moveTo>
                  <a:lnTo>
                    <a:pt x="734211" y="0"/>
                  </a:lnTo>
                  <a:cubicBezTo>
                    <a:pt x="798122" y="0"/>
                    <a:pt x="849932" y="51810"/>
                    <a:pt x="849932" y="115721"/>
                  </a:cubicBezTo>
                  <a:lnTo>
                    <a:pt x="849932" y="115721"/>
                  </a:lnTo>
                  <a:cubicBezTo>
                    <a:pt x="849932" y="146412"/>
                    <a:pt x="837740" y="175846"/>
                    <a:pt x="816038" y="197548"/>
                  </a:cubicBezTo>
                  <a:cubicBezTo>
                    <a:pt x="794336" y="219250"/>
                    <a:pt x="764902" y="231442"/>
                    <a:pt x="734211" y="231442"/>
                  </a:cubicBezTo>
                  <a:lnTo>
                    <a:pt x="115721" y="231442"/>
                  </a:lnTo>
                  <a:cubicBezTo>
                    <a:pt x="85030" y="231442"/>
                    <a:pt x="55596" y="219250"/>
                    <a:pt x="33894" y="197548"/>
                  </a:cubicBezTo>
                  <a:cubicBezTo>
                    <a:pt x="12192" y="175846"/>
                    <a:pt x="0" y="146412"/>
                    <a:pt x="0" y="115721"/>
                  </a:cubicBezTo>
                  <a:lnTo>
                    <a:pt x="0" y="115721"/>
                  </a:lnTo>
                  <a:cubicBezTo>
                    <a:pt x="0" y="85030"/>
                    <a:pt x="12192" y="55596"/>
                    <a:pt x="33894" y="33894"/>
                  </a:cubicBezTo>
                  <a:cubicBezTo>
                    <a:pt x="55596" y="12192"/>
                    <a:pt x="85030" y="0"/>
                    <a:pt x="115721" y="0"/>
                  </a:cubicBez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49932" cy="288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533788" y="4613486"/>
            <a:ext cx="624894" cy="604754"/>
            <a:chOff x="0" y="0"/>
            <a:chExt cx="1048222" cy="10144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8222" cy="1014439"/>
            </a:xfrm>
            <a:custGeom>
              <a:avLst/>
              <a:gdLst/>
              <a:ahLst/>
              <a:cxnLst/>
              <a:rect l="l" t="t" r="r" b="b"/>
              <a:pathLst>
                <a:path w="1048222" h="1014439">
                  <a:moveTo>
                    <a:pt x="524111" y="0"/>
                  </a:moveTo>
                  <a:cubicBezTo>
                    <a:pt x="234652" y="0"/>
                    <a:pt x="0" y="227090"/>
                    <a:pt x="0" y="507220"/>
                  </a:cubicBezTo>
                  <a:cubicBezTo>
                    <a:pt x="0" y="787349"/>
                    <a:pt x="234652" y="1014439"/>
                    <a:pt x="524111" y="1014439"/>
                  </a:cubicBezTo>
                  <a:cubicBezTo>
                    <a:pt x="813570" y="1014439"/>
                    <a:pt x="1048222" y="787349"/>
                    <a:pt x="1048222" y="507220"/>
                  </a:cubicBezTo>
                  <a:cubicBezTo>
                    <a:pt x="1048222" y="227090"/>
                    <a:pt x="813570" y="0"/>
                    <a:pt x="524111" y="0"/>
                  </a:cubicBezTo>
                  <a:close/>
                </a:path>
              </a:pathLst>
            </a:custGeom>
            <a:solidFill>
              <a:srgbClr val="02735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71" y="37954"/>
              <a:ext cx="851680" cy="881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9"/>
                </a:lnSpc>
              </a:pPr>
              <a:r>
                <a:rPr lang="en-US" sz="1899" b="1">
                  <a:solidFill>
                    <a:srgbClr val="F4F8F9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179386" y="3447404"/>
            <a:ext cx="3410410" cy="736411"/>
            <a:chOff x="0" y="0"/>
            <a:chExt cx="955389" cy="2062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5389" cy="206297"/>
            </a:xfrm>
            <a:custGeom>
              <a:avLst/>
              <a:gdLst/>
              <a:ahLst/>
              <a:cxnLst/>
              <a:rect l="l" t="t" r="r" b="b"/>
              <a:pathLst>
                <a:path w="955389" h="206297">
                  <a:moveTo>
                    <a:pt x="103149" y="0"/>
                  </a:moveTo>
                  <a:lnTo>
                    <a:pt x="852240" y="0"/>
                  </a:lnTo>
                  <a:cubicBezTo>
                    <a:pt x="879597" y="0"/>
                    <a:pt x="905833" y="10867"/>
                    <a:pt x="925177" y="30212"/>
                  </a:cubicBezTo>
                  <a:cubicBezTo>
                    <a:pt x="944522" y="49556"/>
                    <a:pt x="955389" y="75792"/>
                    <a:pt x="955389" y="103149"/>
                  </a:cubicBezTo>
                  <a:lnTo>
                    <a:pt x="955389" y="103149"/>
                  </a:lnTo>
                  <a:cubicBezTo>
                    <a:pt x="955389" y="160116"/>
                    <a:pt x="909208" y="206297"/>
                    <a:pt x="852240" y="206297"/>
                  </a:cubicBezTo>
                  <a:lnTo>
                    <a:pt x="103149" y="206297"/>
                  </a:lnTo>
                  <a:cubicBezTo>
                    <a:pt x="46181" y="206297"/>
                    <a:pt x="0" y="160116"/>
                    <a:pt x="0" y="103149"/>
                  </a:cubicBezTo>
                  <a:lnTo>
                    <a:pt x="0" y="103149"/>
                  </a:lnTo>
                  <a:cubicBezTo>
                    <a:pt x="0" y="46181"/>
                    <a:pt x="46181" y="0"/>
                    <a:pt x="103149" y="0"/>
                  </a:cubicBezTo>
                  <a:close/>
                </a:path>
              </a:pathLst>
            </a:custGeom>
            <a:solidFill>
              <a:srgbClr val="4CA62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55389" cy="263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1999" b="1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Steps: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449588" y="4696788"/>
            <a:ext cx="14320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text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4380489" y="5960560"/>
            <a:ext cx="3033964" cy="826168"/>
            <a:chOff x="0" y="0"/>
            <a:chExt cx="849932" cy="23144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9932" cy="231442"/>
            </a:xfrm>
            <a:custGeom>
              <a:avLst/>
              <a:gdLst/>
              <a:ahLst/>
              <a:cxnLst/>
              <a:rect l="l" t="t" r="r" b="b"/>
              <a:pathLst>
                <a:path w="849932" h="231442">
                  <a:moveTo>
                    <a:pt x="115721" y="0"/>
                  </a:moveTo>
                  <a:lnTo>
                    <a:pt x="734211" y="0"/>
                  </a:lnTo>
                  <a:cubicBezTo>
                    <a:pt x="798122" y="0"/>
                    <a:pt x="849932" y="51810"/>
                    <a:pt x="849932" y="115721"/>
                  </a:cubicBezTo>
                  <a:lnTo>
                    <a:pt x="849932" y="115721"/>
                  </a:lnTo>
                  <a:cubicBezTo>
                    <a:pt x="849932" y="146412"/>
                    <a:pt x="837740" y="175846"/>
                    <a:pt x="816038" y="197548"/>
                  </a:cubicBezTo>
                  <a:cubicBezTo>
                    <a:pt x="794336" y="219250"/>
                    <a:pt x="764902" y="231442"/>
                    <a:pt x="734211" y="231442"/>
                  </a:cubicBezTo>
                  <a:lnTo>
                    <a:pt x="115721" y="231442"/>
                  </a:lnTo>
                  <a:cubicBezTo>
                    <a:pt x="85030" y="231442"/>
                    <a:pt x="55596" y="219250"/>
                    <a:pt x="33894" y="197548"/>
                  </a:cubicBezTo>
                  <a:cubicBezTo>
                    <a:pt x="12192" y="175846"/>
                    <a:pt x="0" y="146412"/>
                    <a:pt x="0" y="115721"/>
                  </a:cubicBezTo>
                  <a:lnTo>
                    <a:pt x="0" y="115721"/>
                  </a:lnTo>
                  <a:cubicBezTo>
                    <a:pt x="0" y="85030"/>
                    <a:pt x="12192" y="55596"/>
                    <a:pt x="33894" y="33894"/>
                  </a:cubicBezTo>
                  <a:cubicBezTo>
                    <a:pt x="55596" y="12192"/>
                    <a:pt x="85030" y="0"/>
                    <a:pt x="115721" y="0"/>
                  </a:cubicBez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49932" cy="288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559548" y="6075906"/>
            <a:ext cx="624894" cy="604754"/>
            <a:chOff x="0" y="0"/>
            <a:chExt cx="1048222" cy="10144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8222" cy="1014439"/>
            </a:xfrm>
            <a:custGeom>
              <a:avLst/>
              <a:gdLst/>
              <a:ahLst/>
              <a:cxnLst/>
              <a:rect l="l" t="t" r="r" b="b"/>
              <a:pathLst>
                <a:path w="1048222" h="1014439">
                  <a:moveTo>
                    <a:pt x="524111" y="0"/>
                  </a:moveTo>
                  <a:cubicBezTo>
                    <a:pt x="234652" y="0"/>
                    <a:pt x="0" y="227090"/>
                    <a:pt x="0" y="507220"/>
                  </a:cubicBezTo>
                  <a:cubicBezTo>
                    <a:pt x="0" y="787349"/>
                    <a:pt x="234652" y="1014439"/>
                    <a:pt x="524111" y="1014439"/>
                  </a:cubicBezTo>
                  <a:cubicBezTo>
                    <a:pt x="813570" y="1014439"/>
                    <a:pt x="1048222" y="787349"/>
                    <a:pt x="1048222" y="507220"/>
                  </a:cubicBezTo>
                  <a:cubicBezTo>
                    <a:pt x="1048222" y="227090"/>
                    <a:pt x="813570" y="0"/>
                    <a:pt x="524111" y="0"/>
                  </a:cubicBezTo>
                  <a:close/>
                </a:path>
              </a:pathLst>
            </a:custGeom>
            <a:solidFill>
              <a:srgbClr val="02735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271" y="37954"/>
              <a:ext cx="851680" cy="881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9"/>
                </a:lnSpc>
              </a:pPr>
              <a:r>
                <a:rPr lang="en-US" sz="1899" b="1">
                  <a:solidFill>
                    <a:srgbClr val="F4F8F9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2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475348" y="6159208"/>
            <a:ext cx="14320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Submit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380489" y="7424903"/>
            <a:ext cx="3033964" cy="826168"/>
            <a:chOff x="0" y="0"/>
            <a:chExt cx="849932" cy="2314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49932" cy="231442"/>
            </a:xfrm>
            <a:custGeom>
              <a:avLst/>
              <a:gdLst/>
              <a:ahLst/>
              <a:cxnLst/>
              <a:rect l="l" t="t" r="r" b="b"/>
              <a:pathLst>
                <a:path w="849932" h="231442">
                  <a:moveTo>
                    <a:pt x="115721" y="0"/>
                  </a:moveTo>
                  <a:lnTo>
                    <a:pt x="734211" y="0"/>
                  </a:lnTo>
                  <a:cubicBezTo>
                    <a:pt x="798122" y="0"/>
                    <a:pt x="849932" y="51810"/>
                    <a:pt x="849932" y="115721"/>
                  </a:cubicBezTo>
                  <a:lnTo>
                    <a:pt x="849932" y="115721"/>
                  </a:lnTo>
                  <a:cubicBezTo>
                    <a:pt x="849932" y="146412"/>
                    <a:pt x="837740" y="175846"/>
                    <a:pt x="816038" y="197548"/>
                  </a:cubicBezTo>
                  <a:cubicBezTo>
                    <a:pt x="794336" y="219250"/>
                    <a:pt x="764902" y="231442"/>
                    <a:pt x="734211" y="231442"/>
                  </a:cubicBezTo>
                  <a:lnTo>
                    <a:pt x="115721" y="231442"/>
                  </a:lnTo>
                  <a:cubicBezTo>
                    <a:pt x="85030" y="231442"/>
                    <a:pt x="55596" y="219250"/>
                    <a:pt x="33894" y="197548"/>
                  </a:cubicBezTo>
                  <a:cubicBezTo>
                    <a:pt x="12192" y="175846"/>
                    <a:pt x="0" y="146412"/>
                    <a:pt x="0" y="115721"/>
                  </a:cubicBezTo>
                  <a:lnTo>
                    <a:pt x="0" y="115721"/>
                  </a:lnTo>
                  <a:cubicBezTo>
                    <a:pt x="0" y="85030"/>
                    <a:pt x="12192" y="55596"/>
                    <a:pt x="33894" y="33894"/>
                  </a:cubicBezTo>
                  <a:cubicBezTo>
                    <a:pt x="55596" y="12192"/>
                    <a:pt x="85030" y="0"/>
                    <a:pt x="115721" y="0"/>
                  </a:cubicBez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849932" cy="288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559548" y="7540249"/>
            <a:ext cx="624894" cy="604754"/>
            <a:chOff x="0" y="0"/>
            <a:chExt cx="1048222" cy="101443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8222" cy="1014439"/>
            </a:xfrm>
            <a:custGeom>
              <a:avLst/>
              <a:gdLst/>
              <a:ahLst/>
              <a:cxnLst/>
              <a:rect l="l" t="t" r="r" b="b"/>
              <a:pathLst>
                <a:path w="1048222" h="1014439">
                  <a:moveTo>
                    <a:pt x="524111" y="0"/>
                  </a:moveTo>
                  <a:cubicBezTo>
                    <a:pt x="234652" y="0"/>
                    <a:pt x="0" y="227090"/>
                    <a:pt x="0" y="507220"/>
                  </a:cubicBezTo>
                  <a:cubicBezTo>
                    <a:pt x="0" y="787349"/>
                    <a:pt x="234652" y="1014439"/>
                    <a:pt x="524111" y="1014439"/>
                  </a:cubicBezTo>
                  <a:cubicBezTo>
                    <a:pt x="813570" y="1014439"/>
                    <a:pt x="1048222" y="787349"/>
                    <a:pt x="1048222" y="507220"/>
                  </a:cubicBezTo>
                  <a:cubicBezTo>
                    <a:pt x="1048222" y="227090"/>
                    <a:pt x="813570" y="0"/>
                    <a:pt x="524111" y="0"/>
                  </a:cubicBezTo>
                  <a:close/>
                </a:path>
              </a:pathLst>
            </a:custGeom>
            <a:solidFill>
              <a:srgbClr val="02735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271" y="37954"/>
              <a:ext cx="851680" cy="881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9"/>
                </a:lnSpc>
              </a:pPr>
              <a:r>
                <a:rPr lang="en-US" sz="1899" b="1">
                  <a:solidFill>
                    <a:srgbClr val="F4F8F9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3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475348" y="7623551"/>
            <a:ext cx="143203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View Result</a:t>
            </a:r>
          </a:p>
        </p:txBody>
      </p:sp>
      <p:grpSp>
        <p:nvGrpSpPr>
          <p:cNvPr id="31" name="Group 31"/>
          <p:cNvGrpSpPr/>
          <p:nvPr/>
        </p:nvGrpSpPr>
        <p:grpSpPr>
          <a:xfrm rot="5329631">
            <a:off x="15617703" y="5355003"/>
            <a:ext cx="533775" cy="574862"/>
            <a:chOff x="0" y="0"/>
            <a:chExt cx="680647" cy="7330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80647" cy="733040"/>
            </a:xfrm>
            <a:custGeom>
              <a:avLst/>
              <a:gdLst/>
              <a:ahLst/>
              <a:cxnLst/>
              <a:rect l="l" t="t" r="r" b="b"/>
              <a:pathLst>
                <a:path w="680647" h="733040">
                  <a:moveTo>
                    <a:pt x="680647" y="366520"/>
                  </a:moveTo>
                  <a:lnTo>
                    <a:pt x="274247" y="0"/>
                  </a:lnTo>
                  <a:lnTo>
                    <a:pt x="274247" y="203200"/>
                  </a:lnTo>
                  <a:lnTo>
                    <a:pt x="0" y="203200"/>
                  </a:lnTo>
                  <a:lnTo>
                    <a:pt x="0" y="529840"/>
                  </a:lnTo>
                  <a:lnTo>
                    <a:pt x="274247" y="529840"/>
                  </a:lnTo>
                  <a:lnTo>
                    <a:pt x="274247" y="733040"/>
                  </a:lnTo>
                  <a:lnTo>
                    <a:pt x="680647" y="366520"/>
                  </a:ln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146050"/>
              <a:ext cx="579047" cy="383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5329631">
            <a:off x="15617703" y="6819636"/>
            <a:ext cx="533775" cy="574862"/>
            <a:chOff x="0" y="0"/>
            <a:chExt cx="680647" cy="7330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0647" cy="733040"/>
            </a:xfrm>
            <a:custGeom>
              <a:avLst/>
              <a:gdLst/>
              <a:ahLst/>
              <a:cxnLst/>
              <a:rect l="l" t="t" r="r" b="b"/>
              <a:pathLst>
                <a:path w="680647" h="733040">
                  <a:moveTo>
                    <a:pt x="680647" y="366520"/>
                  </a:moveTo>
                  <a:lnTo>
                    <a:pt x="274247" y="0"/>
                  </a:lnTo>
                  <a:lnTo>
                    <a:pt x="274247" y="203200"/>
                  </a:lnTo>
                  <a:lnTo>
                    <a:pt x="0" y="203200"/>
                  </a:lnTo>
                  <a:lnTo>
                    <a:pt x="0" y="529840"/>
                  </a:lnTo>
                  <a:lnTo>
                    <a:pt x="274247" y="529840"/>
                  </a:lnTo>
                  <a:lnTo>
                    <a:pt x="274247" y="733040"/>
                  </a:lnTo>
                  <a:lnTo>
                    <a:pt x="680647" y="366520"/>
                  </a:lnTo>
                  <a:close/>
                </a:path>
              </a:pathLst>
            </a:custGeom>
            <a:solidFill>
              <a:srgbClr val="D9F4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46050"/>
              <a:ext cx="579047" cy="383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780430" y="2046334"/>
            <a:ext cx="11611663" cy="29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Link to access: </a:t>
            </a:r>
            <a:r>
              <a:rPr lang="en-US" sz="2000" b="1" u="sng" dirty="0">
                <a:solidFill>
                  <a:schemeClr val="bg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  <a:hlinkClick r:id="rId5" tooltip="https://mental-health-screening-app-wqd700k7-group14.streamlit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https://mental-health-screening-app-wqd700k7-group14.streamlit.app/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5895" y="2633709"/>
            <a:ext cx="16016210" cy="7167254"/>
          </a:xfrm>
          <a:custGeom>
            <a:avLst/>
            <a:gdLst/>
            <a:ahLst/>
            <a:cxnLst/>
            <a:rect l="l" t="t" r="r" b="b"/>
            <a:pathLst>
              <a:path w="16016210" h="7167254">
                <a:moveTo>
                  <a:pt x="0" y="0"/>
                </a:moveTo>
                <a:lnTo>
                  <a:pt x="16016210" y="0"/>
                </a:lnTo>
                <a:lnTo>
                  <a:pt x="16016210" y="7167254"/>
                </a:lnTo>
                <a:lnTo>
                  <a:pt x="0" y="716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0244" y="975724"/>
            <a:ext cx="14234209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APPENDIX A: MODEL TRAINING CODE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4220" y="2017759"/>
            <a:ext cx="13679559" cy="29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Link to access: </a:t>
            </a:r>
            <a:r>
              <a:rPr lang="en-US" sz="2000" b="1" u="sng" dirty="0">
                <a:solidFill>
                  <a:schemeClr val="bg1"/>
                </a:solidFill>
                <a:latin typeface="Bricolage Grotesque"/>
                <a:ea typeface="Bricolage Grotesque"/>
                <a:cs typeface="Bricolage Grotesque"/>
                <a:sym typeface="Bricolage Grotesque"/>
                <a:hlinkClick r:id="rId5" tooltip="https://drive.google.com/drive/folders/1WYvISmRBFh2YG06ORExWuZ1UoQYXY27O?usp=drive_lin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https://drive.google.com/drive/folders/1WYvISmRBFh2YG06ORExWuZ1UoQYXY27O?usp=drive_link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732903" y="2448760"/>
            <a:ext cx="14822195" cy="7448153"/>
          </a:xfrm>
          <a:custGeom>
            <a:avLst/>
            <a:gdLst/>
            <a:ahLst/>
            <a:cxnLst/>
            <a:rect l="l" t="t" r="r" b="b"/>
            <a:pathLst>
              <a:path w="14822195" h="7448153">
                <a:moveTo>
                  <a:pt x="0" y="0"/>
                </a:moveTo>
                <a:lnTo>
                  <a:pt x="14822194" y="0"/>
                </a:lnTo>
                <a:lnTo>
                  <a:pt x="14822194" y="7448152"/>
                </a:lnTo>
                <a:lnTo>
                  <a:pt x="0" y="7448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702907" y="193460"/>
            <a:ext cx="739350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WQF7007 Natural Language Processing (OCC2)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0244" y="975724"/>
            <a:ext cx="14234209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APPENDIX B: DEPLOYEMENT CODE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8169" y="2017759"/>
            <a:ext cx="11611663" cy="29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Link to access: </a:t>
            </a:r>
            <a:r>
              <a:rPr lang="en-US" sz="2000" b="1" u="sng" dirty="0">
                <a:solidFill>
                  <a:schemeClr val="bg1"/>
                </a:solidFill>
                <a:latin typeface="Bricolage Grotesque"/>
                <a:ea typeface="Bricolage Grotesque"/>
                <a:cs typeface="Bricolage Grotesque"/>
                <a:sym typeface="Bricolage Grotesque"/>
                <a:hlinkClick r:id="rId5" tooltip="https://github.com/jyliew138/mental-health-screening-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https://github.com/jyliew138/mental-health-screening-app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00852" y="5602162"/>
            <a:ext cx="6935919" cy="1523338"/>
            <a:chOff x="0" y="0"/>
            <a:chExt cx="2055345" cy="4514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5345" cy="451416"/>
            </a:xfrm>
            <a:custGeom>
              <a:avLst/>
              <a:gdLst/>
              <a:ahLst/>
              <a:cxnLst/>
              <a:rect l="l" t="t" r="r" b="b"/>
              <a:pathLst>
                <a:path w="2055345" h="451416">
                  <a:moveTo>
                    <a:pt x="27905" y="0"/>
                  </a:moveTo>
                  <a:lnTo>
                    <a:pt x="2027440" y="0"/>
                  </a:lnTo>
                  <a:cubicBezTo>
                    <a:pt x="2042851" y="0"/>
                    <a:pt x="2055345" y="12494"/>
                    <a:pt x="2055345" y="27905"/>
                  </a:cubicBezTo>
                  <a:lnTo>
                    <a:pt x="2055345" y="423511"/>
                  </a:lnTo>
                  <a:cubicBezTo>
                    <a:pt x="2055345" y="430912"/>
                    <a:pt x="2052405" y="438009"/>
                    <a:pt x="2047172" y="443243"/>
                  </a:cubicBezTo>
                  <a:cubicBezTo>
                    <a:pt x="2041938" y="448476"/>
                    <a:pt x="2034841" y="451416"/>
                    <a:pt x="2027440" y="451416"/>
                  </a:cubicBezTo>
                  <a:lnTo>
                    <a:pt x="27905" y="451416"/>
                  </a:lnTo>
                  <a:cubicBezTo>
                    <a:pt x="20504" y="451416"/>
                    <a:pt x="13406" y="448476"/>
                    <a:pt x="8173" y="443243"/>
                  </a:cubicBezTo>
                  <a:cubicBezTo>
                    <a:pt x="2940" y="438009"/>
                    <a:pt x="0" y="430912"/>
                    <a:pt x="0" y="423511"/>
                  </a:cubicBezTo>
                  <a:lnTo>
                    <a:pt x="0" y="27905"/>
                  </a:lnTo>
                  <a:cubicBezTo>
                    <a:pt x="0" y="20504"/>
                    <a:pt x="2940" y="13406"/>
                    <a:pt x="8173" y="8173"/>
                  </a:cubicBezTo>
                  <a:cubicBezTo>
                    <a:pt x="13406" y="2940"/>
                    <a:pt x="20504" y="0"/>
                    <a:pt x="27905" y="0"/>
                  </a:cubicBezTo>
                  <a:close/>
                </a:path>
              </a:pathLst>
            </a:custGeom>
            <a:solidFill>
              <a:srgbClr val="02735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55345" cy="499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06207" y="5610392"/>
            <a:ext cx="3994646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72"/>
              </a:lnSpc>
            </a:pPr>
            <a:r>
              <a:rPr lang="en-US" sz="4977" b="1">
                <a:solidFill>
                  <a:srgbClr val="027353"/>
                </a:solidFill>
                <a:latin typeface="Roboto Bold"/>
                <a:ea typeface="Roboto Bold"/>
                <a:cs typeface="Roboto Bold"/>
                <a:sym typeface="Roboto Bold"/>
              </a:rPr>
              <a:t>Take Care of Your Mind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14075" y="2394984"/>
            <a:ext cx="12764601" cy="324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1"/>
              </a:lnSpc>
              <a:spcBef>
                <a:spcPct val="0"/>
              </a:spcBef>
            </a:pPr>
            <a:r>
              <a:rPr lang="en-US" sz="18858" b="1">
                <a:solidFill>
                  <a:srgbClr val="194035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5794" y="5797688"/>
            <a:ext cx="5942279" cy="1008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Start today by taking small steps toward a healthier and happier life</a:t>
            </a:r>
          </a:p>
        </p:txBody>
      </p:sp>
      <p:sp>
        <p:nvSpPr>
          <p:cNvPr id="8" name="Freeform 8"/>
          <p:cNvSpPr/>
          <p:nvPr/>
        </p:nvSpPr>
        <p:spPr>
          <a:xfrm>
            <a:off x="14982734" y="514350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800000">
            <a:off x="0" y="0"/>
            <a:ext cx="3305266" cy="5143500"/>
          </a:xfrm>
          <a:custGeom>
            <a:avLst/>
            <a:gdLst/>
            <a:ahLst/>
            <a:cxnLst/>
            <a:rect l="l" t="t" r="r" b="b"/>
            <a:pathLst>
              <a:path w="3305266" h="5143500">
                <a:moveTo>
                  <a:pt x="0" y="0"/>
                </a:moveTo>
                <a:lnTo>
                  <a:pt x="3305266" y="0"/>
                </a:lnTo>
                <a:lnTo>
                  <a:pt x="330526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1093</Words>
  <Application>Microsoft Office PowerPoint</Application>
  <PresentationFormat>Custom</PresentationFormat>
  <Paragraphs>201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Bricolage Grotesque Bold</vt:lpstr>
      <vt:lpstr>Calibri</vt:lpstr>
      <vt:lpstr>Roboto</vt:lpstr>
      <vt:lpstr>Bricolage Grotesque</vt:lpstr>
      <vt:lpstr>Aptos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Group Project</dc:title>
  <cp:lastModifiedBy>Ang Anson</cp:lastModifiedBy>
  <cp:revision>2</cp:revision>
  <dcterms:created xsi:type="dcterms:W3CDTF">2006-08-16T00:00:00Z</dcterms:created>
  <dcterms:modified xsi:type="dcterms:W3CDTF">2026-06-14T14:00:39Z</dcterms:modified>
  <dc:identifier>DAHGcCcFyuE</dc:identifier>
</cp:coreProperties>
</file>